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1" d="100"/>
          <a:sy n="101" d="100"/>
        </p:scale>
        <p:origin x="2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2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1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4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1.pn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1.pn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6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svg"/><Relationship Id="rId5" Type="http://schemas.openxmlformats.org/officeDocument/2006/relationships/image" Target="../media/image63.sv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svg"/><Relationship Id="rId5" Type="http://schemas.openxmlformats.org/officeDocument/2006/relationships/image" Target="../media/image66.svg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svg"/><Relationship Id="rId4" Type="http://schemas.openxmlformats.org/officeDocument/2006/relationships/image" Target="../media/image6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svg"/><Relationship Id="rId4" Type="http://schemas.openxmlformats.org/officeDocument/2006/relationships/image" Target="../media/image7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8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svg"/><Relationship Id="rId5" Type="http://schemas.openxmlformats.org/officeDocument/2006/relationships/image" Target="../media/image82.sv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svg"/><Relationship Id="rId5" Type="http://schemas.openxmlformats.org/officeDocument/2006/relationships/image" Target="../media/image84.svg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svg"/><Relationship Id="rId5" Type="http://schemas.openxmlformats.org/officeDocument/2006/relationships/image" Target="../media/image87.svg"/><Relationship Id="rId4" Type="http://schemas.openxmlformats.org/officeDocument/2006/relationships/image" Target="../media/image8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5" Type="http://schemas.openxmlformats.org/officeDocument/2006/relationships/image" Target="../media/image89.svg"/><Relationship Id="rId4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3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svg"/><Relationship Id="rId5" Type="http://schemas.openxmlformats.org/officeDocument/2006/relationships/image" Target="../media/image91.sv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6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svg"/><Relationship Id="rId5" Type="http://schemas.openxmlformats.org/officeDocument/2006/relationships/image" Target="../media/image94.svg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svg"/><Relationship Id="rId4" Type="http://schemas.openxmlformats.org/officeDocument/2006/relationships/image" Target="../media/image97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svg"/><Relationship Id="rId4" Type="http://schemas.openxmlformats.org/officeDocument/2006/relationships/image" Target="../media/image9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svg"/><Relationship Id="rId5" Type="http://schemas.openxmlformats.org/officeDocument/2006/relationships/image" Target="../media/image102.svg"/><Relationship Id="rId4" Type="http://schemas.openxmlformats.org/officeDocument/2006/relationships/image" Target="../media/image10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svg"/><Relationship Id="rId5" Type="http://schemas.openxmlformats.org/officeDocument/2006/relationships/image" Target="../media/image104.svg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617122" y="212750"/>
            <a:ext cx="21029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3666" y="212750"/>
            <a:ext cx="5831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381125"/>
            <a:ext cx="33454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SECURITY TRAINING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613669"/>
            <a:ext cx="2539454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65745" y="2093714"/>
            <a:ext cx="5684706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 Training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65745" y="2733749"/>
            <a:ext cx="347094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5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 the bait. Protect your data.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45" y="3091309"/>
            <a:ext cx="4777301" cy="68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security awareness module for every employee</a:t>
            </a:r>
            <a:endParaRPr lang="en-US" sz="122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with real-world examples and interactive</a:t>
            </a:r>
            <a:endParaRPr lang="en-US" sz="122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checks.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5559177" y="1104342"/>
            <a:ext cx="3219450" cy="2962275"/>
          </a:xfrm>
          <a:prstGeom prst="roundRect">
            <a:avLst>
              <a:gd name="adj" fmla="val 308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5792912" y="1313483"/>
            <a:ext cx="215617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91944" y="1771799"/>
            <a:ext cx="276225" cy="276225"/>
          </a:xfrm>
          <a:prstGeom prst="roundRect">
            <a:avLst>
              <a:gd name="adj" fmla="val 23172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5891659" y="1803425"/>
            <a:ext cx="1568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70" dirty="0"/>
          </a:p>
        </p:txBody>
      </p:sp>
      <p:sp>
        <p:nvSpPr>
          <p:cNvPr id="18" name="Text 15"/>
          <p:cNvSpPr/>
          <p:nvPr/>
        </p:nvSpPr>
        <p:spPr>
          <a:xfrm>
            <a:off x="6204347" y="1791816"/>
            <a:ext cx="10792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6204347" y="2015430"/>
            <a:ext cx="2758180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phishing emails, fake sites,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scam messages.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791944" y="2517502"/>
            <a:ext cx="276225" cy="276225"/>
          </a:xfrm>
          <a:prstGeom prst="roundRect">
            <a:avLst>
              <a:gd name="adj" fmla="val 23172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5874618" y="2549128"/>
            <a:ext cx="2011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6204347" y="2537520"/>
            <a:ext cx="76517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6204347" y="2761134"/>
            <a:ext cx="2577569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best practices that stop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attacks before they start.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791944" y="3263205"/>
            <a:ext cx="276225" cy="276225"/>
          </a:xfrm>
          <a:prstGeom prst="roundRect">
            <a:avLst>
              <a:gd name="adj" fmla="val 23172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5872981" y="3294831"/>
            <a:ext cx="2054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70" dirty="0"/>
          </a:p>
        </p:txBody>
      </p:sp>
      <p:sp>
        <p:nvSpPr>
          <p:cNvPr id="26" name="Text 23"/>
          <p:cNvSpPr/>
          <p:nvPr/>
        </p:nvSpPr>
        <p:spPr>
          <a:xfrm>
            <a:off x="6204347" y="3283223"/>
            <a:ext cx="9154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204347" y="3506837"/>
            <a:ext cx="2993544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exactly what to do when you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a threat.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2539" y="1290712"/>
            <a:ext cx="2752725" cy="352425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617122" y="212750"/>
            <a:ext cx="21029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3666" y="212750"/>
            <a:ext cx="5831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381125"/>
            <a:ext cx="33454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SECURITY TRAINING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613669"/>
            <a:ext cx="2539454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65745" y="2093714"/>
            <a:ext cx="5684706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 Training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65745" y="2733749"/>
            <a:ext cx="347094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5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 the bait. Protect your data.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45" y="3091309"/>
            <a:ext cx="4777301" cy="68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security awareness module for every employee</a:t>
            </a:r>
            <a:endParaRPr lang="en-US" sz="122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with real-world examples and interactive</a:t>
            </a:r>
            <a:endParaRPr lang="en-US" sz="122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checks.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5559177" y="1104342"/>
            <a:ext cx="3219450" cy="2962275"/>
          </a:xfrm>
          <a:prstGeom prst="roundRect">
            <a:avLst>
              <a:gd name="adj" fmla="val 308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5792912" y="1313483"/>
            <a:ext cx="215617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91944" y="1771799"/>
            <a:ext cx="276225" cy="276225"/>
          </a:xfrm>
          <a:prstGeom prst="roundRect">
            <a:avLst>
              <a:gd name="adj" fmla="val 23172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5891659" y="1803425"/>
            <a:ext cx="15688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70" dirty="0"/>
          </a:p>
        </p:txBody>
      </p:sp>
      <p:sp>
        <p:nvSpPr>
          <p:cNvPr id="18" name="Text 15"/>
          <p:cNvSpPr/>
          <p:nvPr/>
        </p:nvSpPr>
        <p:spPr>
          <a:xfrm>
            <a:off x="6204347" y="1791816"/>
            <a:ext cx="10792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6204347" y="2015430"/>
            <a:ext cx="2758180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phishing emails, fake sites,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scam messages.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791944" y="2517502"/>
            <a:ext cx="276225" cy="276225"/>
          </a:xfrm>
          <a:prstGeom prst="roundRect">
            <a:avLst>
              <a:gd name="adj" fmla="val 23172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5874618" y="2549128"/>
            <a:ext cx="20119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6204347" y="2537520"/>
            <a:ext cx="76517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Defend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6204347" y="2761134"/>
            <a:ext cx="2577569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best practices that stop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attacks before they start.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791944" y="3263205"/>
            <a:ext cx="276225" cy="276225"/>
          </a:xfrm>
          <a:prstGeom prst="roundRect">
            <a:avLst>
              <a:gd name="adj" fmla="val 23172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5872981" y="3294831"/>
            <a:ext cx="2054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70" dirty="0"/>
          </a:p>
        </p:txBody>
      </p:sp>
      <p:sp>
        <p:nvSpPr>
          <p:cNvPr id="26" name="Text 23"/>
          <p:cNvSpPr/>
          <p:nvPr/>
        </p:nvSpPr>
        <p:spPr>
          <a:xfrm>
            <a:off x="6204347" y="3283223"/>
            <a:ext cx="9154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204347" y="3506837"/>
            <a:ext cx="2993544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exactly what to do when you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a threat.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2539" y="1290712"/>
            <a:ext cx="2752725" cy="352425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033320" y="212750"/>
            <a:ext cx="15260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6058" y="212750"/>
            <a:ext cx="6190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791245"/>
            <a:ext cx="1762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007641"/>
            <a:ext cx="370950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Phishing?</a:t>
            </a:r>
            <a:endParaRPr lang="en-US" sz="2590" dirty="0"/>
          </a:p>
        </p:txBody>
      </p:sp>
      <p:sp>
        <p:nvSpPr>
          <p:cNvPr id="11" name="Text 8"/>
          <p:cNvSpPr/>
          <p:nvPr/>
        </p:nvSpPr>
        <p:spPr>
          <a:xfrm>
            <a:off x="365745" y="1482775"/>
            <a:ext cx="8277389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is a form of fraud where attackers impersonate trusted people or brands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trick you into handing over sensitive information.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45" y="2132075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553343" y="2315617"/>
            <a:ext cx="204086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Impersonates trust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343" y="2609180"/>
            <a:ext cx="4331918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Fraudulent messages pose as banks, colleagues,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vendors, or IT to lower your guard.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4663418" y="2132075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850978" y="2315617"/>
            <a:ext cx="188966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your data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50978" y="2609180"/>
            <a:ext cx="4912057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want passwords, financial details, and access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company systems.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365745" y="3356483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553343" y="3540026"/>
            <a:ext cx="190785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Arrives anywhere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3343" y="3833589"/>
            <a:ext cx="4564090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by email, text (smishing), phone (vishing),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convincing fake websites.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663418" y="3356483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4850978" y="3540026"/>
            <a:ext cx="209716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click is enough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50978" y="3833589"/>
            <a:ext cx="3851709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careless click can expose an entire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 to compromise.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033320" y="212750"/>
            <a:ext cx="15260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6058" y="212750"/>
            <a:ext cx="6190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791245"/>
            <a:ext cx="1762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007641"/>
            <a:ext cx="370950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Phishing?</a:t>
            </a:r>
            <a:endParaRPr lang="en-US" sz="2590" dirty="0"/>
          </a:p>
        </p:txBody>
      </p:sp>
      <p:sp>
        <p:nvSpPr>
          <p:cNvPr id="11" name="Text 8"/>
          <p:cNvSpPr/>
          <p:nvPr/>
        </p:nvSpPr>
        <p:spPr>
          <a:xfrm>
            <a:off x="365745" y="1482775"/>
            <a:ext cx="8277389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is a form of fraud where attackers impersonate trusted people or brands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trick you into handing over sensitive information.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45" y="2132075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553343" y="2315617"/>
            <a:ext cx="204086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Impersonates trust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343" y="2609180"/>
            <a:ext cx="4331918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Fraudulent messages pose as banks, colleagues,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vendors, or IT to lower your guard.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4663418" y="2132075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850978" y="2315617"/>
            <a:ext cx="188966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 your data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50978" y="2609180"/>
            <a:ext cx="4912057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want passwords, financial details, and access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company systems.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365745" y="3356483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553343" y="3540026"/>
            <a:ext cx="190785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Arrives anywhere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3343" y="3833589"/>
            <a:ext cx="4564090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by email, text (smishing), phone (vishing),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convincing fake websites.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663418" y="3356483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4850978" y="3540026"/>
            <a:ext cx="209716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click is enough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50978" y="3833589"/>
            <a:ext cx="3851709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careless click can expose an entire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 to compromise.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312670" y="212750"/>
            <a:ext cx="116103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THREAT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4644" y="212750"/>
            <a:ext cx="6208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976685"/>
            <a:ext cx="18679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193081"/>
            <a:ext cx="4098488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Threat to Everyone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365745" y="1648941"/>
            <a:ext cx="7751132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remains one of the most common entry points for data breaches —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it targets people, not just technology.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6229" y="2297832"/>
            <a:ext cx="2681288" cy="12573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1120177" y="2436093"/>
            <a:ext cx="1173316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No.1</a:t>
            </a:r>
            <a:endParaRPr lang="en-US" sz="3240" dirty="0"/>
          </a:p>
        </p:txBody>
      </p:sp>
      <p:sp>
        <p:nvSpPr>
          <p:cNvPr id="14" name="Text 11"/>
          <p:cNvSpPr/>
          <p:nvPr/>
        </p:nvSpPr>
        <p:spPr>
          <a:xfrm>
            <a:off x="412827" y="2981846"/>
            <a:ext cx="2588017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common entry point for</a:t>
            </a:r>
            <a:endParaRPr lang="en-US" sz="1120" dirty="0"/>
          </a:p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breaches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3231319" y="2297832"/>
            <a:ext cx="2681288" cy="12573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3738477" y="2436093"/>
            <a:ext cx="1666972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click</a:t>
            </a:r>
            <a:endParaRPr lang="en-US" sz="3240" dirty="0"/>
          </a:p>
        </p:txBody>
      </p:sp>
      <p:sp>
        <p:nvSpPr>
          <p:cNvPr id="17" name="Text 14"/>
          <p:cNvSpPr/>
          <p:nvPr/>
        </p:nvSpPr>
        <p:spPr>
          <a:xfrm>
            <a:off x="3291074" y="2981846"/>
            <a:ext cx="2561704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it takes to compromise an</a:t>
            </a:r>
            <a:endParaRPr lang="en-US" sz="1120" dirty="0"/>
          </a:p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096409" y="2297832"/>
            <a:ext cx="2681288" cy="12573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6864083" y="2436093"/>
            <a:ext cx="1145939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3240" dirty="0"/>
          </a:p>
        </p:txBody>
      </p:sp>
      <p:sp>
        <p:nvSpPr>
          <p:cNvPr id="20" name="Text 17"/>
          <p:cNvSpPr/>
          <p:nvPr/>
        </p:nvSpPr>
        <p:spPr>
          <a:xfrm>
            <a:off x="5941308" y="2981846"/>
            <a:ext cx="2991416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for attackers, high payoff for</a:t>
            </a:r>
            <a:endParaRPr lang="en-US" sz="1120" dirty="0"/>
          </a:p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366713" y="3733167"/>
            <a:ext cx="8410575" cy="481012"/>
          </a:xfrm>
          <a:prstGeom prst="roundRect">
            <a:avLst>
              <a:gd name="adj" fmla="val 19010"/>
            </a:avLst>
          </a:prstGeom>
          <a:solidFill>
            <a:srgbClr val="1E3A5F">
              <a:alpha val="4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599108" y="3886423"/>
            <a:ext cx="174823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67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LEADS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2082775" y="3885530"/>
            <a:ext cx="745675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Ransomware infections · Account takeover · Financial fraud · Stolen customer data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312670" y="212750"/>
            <a:ext cx="116103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THREAT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4644" y="212750"/>
            <a:ext cx="6208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976685"/>
            <a:ext cx="18679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193081"/>
            <a:ext cx="4098488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Threat to Everyone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365745" y="1648941"/>
            <a:ext cx="7751132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remains one of the most common entry points for data breaches —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it targets people, not just technology.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6229" y="2297832"/>
            <a:ext cx="2681288" cy="12573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1120177" y="2436093"/>
            <a:ext cx="1173316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No.1</a:t>
            </a:r>
            <a:endParaRPr lang="en-US" sz="3240" dirty="0"/>
          </a:p>
        </p:txBody>
      </p:sp>
      <p:sp>
        <p:nvSpPr>
          <p:cNvPr id="14" name="Text 11"/>
          <p:cNvSpPr/>
          <p:nvPr/>
        </p:nvSpPr>
        <p:spPr>
          <a:xfrm>
            <a:off x="412827" y="2981846"/>
            <a:ext cx="2588017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common entry point for</a:t>
            </a:r>
            <a:endParaRPr lang="en-US" sz="1120" dirty="0"/>
          </a:p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breaches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3231319" y="2297832"/>
            <a:ext cx="2681288" cy="12573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3738477" y="2436093"/>
            <a:ext cx="1666972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click</a:t>
            </a:r>
            <a:endParaRPr lang="en-US" sz="3240" dirty="0"/>
          </a:p>
        </p:txBody>
      </p:sp>
      <p:sp>
        <p:nvSpPr>
          <p:cNvPr id="17" name="Text 14"/>
          <p:cNvSpPr/>
          <p:nvPr/>
        </p:nvSpPr>
        <p:spPr>
          <a:xfrm>
            <a:off x="3291074" y="2981846"/>
            <a:ext cx="2561704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it takes to compromise an</a:t>
            </a:r>
            <a:endParaRPr lang="en-US" sz="1120" dirty="0"/>
          </a:p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096409" y="2297832"/>
            <a:ext cx="2681288" cy="12573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6864083" y="2436093"/>
            <a:ext cx="1145939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4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3240" dirty="0"/>
          </a:p>
        </p:txBody>
      </p:sp>
      <p:sp>
        <p:nvSpPr>
          <p:cNvPr id="20" name="Text 17"/>
          <p:cNvSpPr/>
          <p:nvPr/>
        </p:nvSpPr>
        <p:spPr>
          <a:xfrm>
            <a:off x="5941308" y="2981846"/>
            <a:ext cx="2991416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for attackers, high payoff for</a:t>
            </a:r>
            <a:endParaRPr lang="en-US" sz="1120" dirty="0"/>
          </a:p>
          <a:p>
            <a:pPr marL="0" indent="0" algn="ctr">
              <a:lnSpc>
                <a:spcPts val="1563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366713" y="3733167"/>
            <a:ext cx="8410575" cy="481012"/>
          </a:xfrm>
          <a:prstGeom prst="roundRect">
            <a:avLst>
              <a:gd name="adj" fmla="val 19010"/>
            </a:avLst>
          </a:prstGeom>
          <a:solidFill>
            <a:srgbClr val="1E3A5F">
              <a:alpha val="4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599108" y="3886423"/>
            <a:ext cx="174823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67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IT LEADS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2082775" y="3885530"/>
            <a:ext cx="745675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Ransomware infections · Account takeover · Financial fraud · Stolen customer data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185422" y="212750"/>
            <a:ext cx="132122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FLOW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0626" y="212750"/>
            <a:ext cx="62606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169119"/>
            <a:ext cx="11759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385515"/>
            <a:ext cx="4427205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an Attack Unfolds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365745" y="1841376"/>
            <a:ext cx="8296833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phishing attacks follow the same four stages. Breaking the chain at any step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you safe.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4889" y="2516460"/>
            <a:ext cx="1881187" cy="150495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516806" y="2699891"/>
            <a:ext cx="3131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70" dirty="0"/>
          </a:p>
        </p:txBody>
      </p:sp>
      <p:sp>
        <p:nvSpPr>
          <p:cNvPr id="14" name="Text 11"/>
          <p:cNvSpPr/>
          <p:nvPr/>
        </p:nvSpPr>
        <p:spPr>
          <a:xfrm>
            <a:off x="516806" y="3007147"/>
            <a:ext cx="392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Bait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16806" y="3259485"/>
            <a:ext cx="2025194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convincing message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arrives, posing as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someone you trust.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2354907" y="3155528"/>
            <a:ext cx="15969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2542617" y="2516460"/>
            <a:ext cx="1881187" cy="150495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2694533" y="2699891"/>
            <a:ext cx="3574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70" dirty="0"/>
          </a:p>
        </p:txBody>
      </p:sp>
      <p:sp>
        <p:nvSpPr>
          <p:cNvPr id="19" name="Text 16"/>
          <p:cNvSpPr/>
          <p:nvPr/>
        </p:nvSpPr>
        <p:spPr>
          <a:xfrm>
            <a:off x="2694533" y="3007147"/>
            <a:ext cx="51249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2694533" y="3259485"/>
            <a:ext cx="2069016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click a link or open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attachment without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verifying.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4532635" y="3155528"/>
            <a:ext cx="15969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4720344" y="2516460"/>
            <a:ext cx="1881187" cy="150495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4872261" y="2699891"/>
            <a:ext cx="3616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4872261" y="3007147"/>
            <a:ext cx="75569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4872261" y="3259485"/>
            <a:ext cx="2037576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Credentials or data are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stolen, or malware is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installed.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6710362" y="3155528"/>
            <a:ext cx="15969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40" dirty="0"/>
          </a:p>
        </p:txBody>
      </p:sp>
      <p:sp>
        <p:nvSpPr>
          <p:cNvPr id="27" name="Shape 24"/>
          <p:cNvSpPr/>
          <p:nvPr/>
        </p:nvSpPr>
        <p:spPr>
          <a:xfrm>
            <a:off x="6898072" y="2516460"/>
            <a:ext cx="1881187" cy="1504950"/>
          </a:xfrm>
          <a:prstGeom prst="roundRect">
            <a:avLst>
              <a:gd name="adj" fmla="val 6076"/>
            </a:avLst>
          </a:prstGeom>
          <a:solidFill>
            <a:srgbClr val="1E3A5F"/>
          </a:solidFill>
          <a:ln w="4763">
            <a:solidFill>
              <a:srgbClr val="1E3A5F"/>
            </a:solidFill>
            <a:prstDash val="solid"/>
          </a:ln>
          <a:effectLst>
            <a:outerShdw blurRad="137160" dist="45720" dir="5400000" algn="bl" rotWithShape="0">
              <a:srgbClr val="1E3A5F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049988" y="2699891"/>
            <a:ext cx="3688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70" dirty="0"/>
          </a:p>
        </p:txBody>
      </p:sp>
      <p:sp>
        <p:nvSpPr>
          <p:cNvPr id="29" name="Text 26"/>
          <p:cNvSpPr/>
          <p:nvPr/>
        </p:nvSpPr>
        <p:spPr>
          <a:xfrm>
            <a:off x="7049988" y="3007147"/>
            <a:ext cx="65257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7049988" y="3259485"/>
            <a:ext cx="191442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 uses access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spread, steal, or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ransom.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185422" y="212750"/>
            <a:ext cx="132122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FLOW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0626" y="212750"/>
            <a:ext cx="62606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169119"/>
            <a:ext cx="11759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385515"/>
            <a:ext cx="4427205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an Attack Unfolds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365745" y="1841376"/>
            <a:ext cx="8296833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phishing attacks follow the same four stages. Breaking the chain at any step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you safe.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4889" y="2516460"/>
            <a:ext cx="1881187" cy="150495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516806" y="2699891"/>
            <a:ext cx="31311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70" dirty="0"/>
          </a:p>
        </p:txBody>
      </p:sp>
      <p:sp>
        <p:nvSpPr>
          <p:cNvPr id="14" name="Text 11"/>
          <p:cNvSpPr/>
          <p:nvPr/>
        </p:nvSpPr>
        <p:spPr>
          <a:xfrm>
            <a:off x="516806" y="3007147"/>
            <a:ext cx="392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Bait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16806" y="3259485"/>
            <a:ext cx="2025194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convincing message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arrives, posing as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someone you trust.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2354907" y="3155528"/>
            <a:ext cx="15969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2542617" y="2516460"/>
            <a:ext cx="1881187" cy="150495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2694533" y="2699891"/>
            <a:ext cx="3574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70" dirty="0"/>
          </a:p>
        </p:txBody>
      </p:sp>
      <p:sp>
        <p:nvSpPr>
          <p:cNvPr id="19" name="Text 16"/>
          <p:cNvSpPr/>
          <p:nvPr/>
        </p:nvSpPr>
        <p:spPr>
          <a:xfrm>
            <a:off x="2694533" y="3007147"/>
            <a:ext cx="51249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2694533" y="3259485"/>
            <a:ext cx="2069016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click a link or open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attachment without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verifying.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4532635" y="3155528"/>
            <a:ext cx="15969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4720344" y="2516460"/>
            <a:ext cx="1881187" cy="1504950"/>
          </a:xfrm>
          <a:prstGeom prst="roundRect">
            <a:avLst>
              <a:gd name="adj" fmla="val 607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4872261" y="2699891"/>
            <a:ext cx="36168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4872261" y="3007147"/>
            <a:ext cx="75569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4872261" y="3259485"/>
            <a:ext cx="2037576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Credentials or data are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stolen, or malware is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installed.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6710362" y="3155528"/>
            <a:ext cx="15969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440" dirty="0"/>
          </a:p>
        </p:txBody>
      </p:sp>
      <p:sp>
        <p:nvSpPr>
          <p:cNvPr id="27" name="Shape 24"/>
          <p:cNvSpPr/>
          <p:nvPr/>
        </p:nvSpPr>
        <p:spPr>
          <a:xfrm>
            <a:off x="6898072" y="2516460"/>
            <a:ext cx="1881187" cy="1504950"/>
          </a:xfrm>
          <a:prstGeom prst="roundRect">
            <a:avLst>
              <a:gd name="adj" fmla="val 6076"/>
            </a:avLst>
          </a:prstGeom>
          <a:solidFill>
            <a:srgbClr val="1E3A5F"/>
          </a:solidFill>
          <a:ln w="4763">
            <a:solidFill>
              <a:srgbClr val="1E3A5F"/>
            </a:solidFill>
            <a:prstDash val="solid"/>
          </a:ln>
          <a:effectLst>
            <a:outerShdw blurRad="137160" dist="45720" dir="5400000" algn="bl" rotWithShape="0">
              <a:srgbClr val="1E3A5F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049988" y="2699891"/>
            <a:ext cx="3688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70" dirty="0"/>
          </a:p>
        </p:txBody>
      </p:sp>
      <p:sp>
        <p:nvSpPr>
          <p:cNvPr id="29" name="Text 26"/>
          <p:cNvSpPr/>
          <p:nvPr/>
        </p:nvSpPr>
        <p:spPr>
          <a:xfrm>
            <a:off x="7049988" y="3007147"/>
            <a:ext cx="65257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7049988" y="3259485"/>
            <a:ext cx="191442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 uses access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spread, steal, or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ransom.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143824" y="212750"/>
            <a:ext cx="13847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TYPES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7918" y="212750"/>
            <a:ext cx="61658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860003"/>
            <a:ext cx="23067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THE VARIANTS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076399"/>
            <a:ext cx="5333256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Types of Phishing</a:t>
            </a:r>
            <a:endParaRPr lang="en-US" sz="2450" dirty="0"/>
          </a:p>
        </p:txBody>
      </p:sp>
      <p:sp>
        <p:nvSpPr>
          <p:cNvPr id="11" name="Shape 8"/>
          <p:cNvSpPr/>
          <p:nvPr/>
        </p:nvSpPr>
        <p:spPr>
          <a:xfrm>
            <a:off x="366229" y="1611883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563612" y="1794197"/>
            <a:ext cx="16667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Phishing</a:t>
            </a:r>
            <a:endParaRPr lang="en-US" sz="1370" dirty="0"/>
          </a:p>
        </p:txBody>
      </p:sp>
      <p:sp>
        <p:nvSpPr>
          <p:cNvPr id="13" name="Text 10"/>
          <p:cNvSpPr/>
          <p:nvPr/>
        </p:nvSpPr>
        <p:spPr>
          <a:xfrm>
            <a:off x="563612" y="2101453"/>
            <a:ext cx="2840407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fraudulent emails sent to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thousands, hoping a few people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bait.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231319" y="1611883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428702" y="1794197"/>
            <a:ext cx="17200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Spear Phishing</a:t>
            </a:r>
            <a:endParaRPr lang="en-US" sz="1370" dirty="0"/>
          </a:p>
        </p:txBody>
      </p:sp>
      <p:sp>
        <p:nvSpPr>
          <p:cNvPr id="16" name="Text 13"/>
          <p:cNvSpPr/>
          <p:nvPr/>
        </p:nvSpPr>
        <p:spPr>
          <a:xfrm>
            <a:off x="3428702" y="2101453"/>
            <a:ext cx="2649833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at a specific person,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personal details to feel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096409" y="1611883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293793" y="1794197"/>
            <a:ext cx="96871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Whaling</a:t>
            </a:r>
            <a:endParaRPr lang="en-US" sz="1370" dirty="0"/>
          </a:p>
        </p:txBody>
      </p:sp>
      <p:sp>
        <p:nvSpPr>
          <p:cNvPr id="19" name="Text 16"/>
          <p:cNvSpPr/>
          <p:nvPr/>
        </p:nvSpPr>
        <p:spPr>
          <a:xfrm>
            <a:off x="6293793" y="2101453"/>
            <a:ext cx="2881811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Aimed at executives and leaders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hold high-value access and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366229" y="3062585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563612" y="3244900"/>
            <a:ext cx="21835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Smishing &amp; Vishing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563612" y="3552155"/>
            <a:ext cx="3060293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Scams delivered through SMS text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and fraudulent phone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3231319" y="3062585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3428702" y="3244900"/>
            <a:ext cx="171185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Phishing</a:t>
            </a:r>
            <a:endParaRPr lang="en-US" sz="1370" dirty="0"/>
          </a:p>
        </p:txBody>
      </p:sp>
      <p:sp>
        <p:nvSpPr>
          <p:cNvPr id="25" name="Text 22"/>
          <p:cNvSpPr/>
          <p:nvPr/>
        </p:nvSpPr>
        <p:spPr>
          <a:xfrm>
            <a:off x="3428702" y="3552155"/>
            <a:ext cx="2797939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email is copied, then its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are swapped for malicious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ones.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096409" y="3062585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6265218" y="3360167"/>
            <a:ext cx="24640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bait, same goal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6265218" y="3644726"/>
            <a:ext cx="3075384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type aims to steal your trust,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credentials, or your money.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229" y="1611883"/>
            <a:ext cx="2681288" cy="1266825"/>
          </a:xfrm>
          <a:prstGeom prst="rect">
            <a:avLst/>
          </a:prstGeom>
        </p:spPr>
      </p:pic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1319" y="1611883"/>
            <a:ext cx="2681288" cy="1266825"/>
          </a:xfrm>
          <a:prstGeom prst="rect">
            <a:avLst/>
          </a:prstGeom>
        </p:spPr>
      </p:pic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409" y="1611883"/>
            <a:ext cx="2681288" cy="1266825"/>
          </a:xfrm>
          <a:prstGeom prst="rect">
            <a:avLst/>
          </a:prstGeom>
        </p:spPr>
      </p:pic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229" y="3062585"/>
            <a:ext cx="2681288" cy="1266825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1319" y="3062585"/>
            <a:ext cx="2681288" cy="1266825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143824" y="212750"/>
            <a:ext cx="138478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TYPES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7918" y="212750"/>
            <a:ext cx="61658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860003"/>
            <a:ext cx="23067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THE VARIANTS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076399"/>
            <a:ext cx="5333256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Types of Phishing</a:t>
            </a:r>
            <a:endParaRPr lang="en-US" sz="2450" dirty="0"/>
          </a:p>
        </p:txBody>
      </p:sp>
      <p:sp>
        <p:nvSpPr>
          <p:cNvPr id="11" name="Shape 8"/>
          <p:cNvSpPr/>
          <p:nvPr/>
        </p:nvSpPr>
        <p:spPr>
          <a:xfrm>
            <a:off x="366229" y="1611883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563612" y="1794197"/>
            <a:ext cx="166677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Phishing</a:t>
            </a:r>
            <a:endParaRPr lang="en-US" sz="1370" dirty="0"/>
          </a:p>
        </p:txBody>
      </p:sp>
      <p:sp>
        <p:nvSpPr>
          <p:cNvPr id="13" name="Text 10"/>
          <p:cNvSpPr/>
          <p:nvPr/>
        </p:nvSpPr>
        <p:spPr>
          <a:xfrm>
            <a:off x="563612" y="2101453"/>
            <a:ext cx="2840407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fraudulent emails sent to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thousands, hoping a few people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bait.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231319" y="1611883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428702" y="1794197"/>
            <a:ext cx="172008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Spear Phishing</a:t>
            </a:r>
            <a:endParaRPr lang="en-US" sz="1370" dirty="0"/>
          </a:p>
        </p:txBody>
      </p:sp>
      <p:sp>
        <p:nvSpPr>
          <p:cNvPr id="16" name="Text 13"/>
          <p:cNvSpPr/>
          <p:nvPr/>
        </p:nvSpPr>
        <p:spPr>
          <a:xfrm>
            <a:off x="3428702" y="2101453"/>
            <a:ext cx="2649833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at a specific person,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personal details to feel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096409" y="1611883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293793" y="1794197"/>
            <a:ext cx="96871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Whaling</a:t>
            </a:r>
            <a:endParaRPr lang="en-US" sz="1370" dirty="0"/>
          </a:p>
        </p:txBody>
      </p:sp>
      <p:sp>
        <p:nvSpPr>
          <p:cNvPr id="19" name="Text 16"/>
          <p:cNvSpPr/>
          <p:nvPr/>
        </p:nvSpPr>
        <p:spPr>
          <a:xfrm>
            <a:off x="6293793" y="2101453"/>
            <a:ext cx="2881811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Aimed at executives and leaders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hold high-value access and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366229" y="3062585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563612" y="3244900"/>
            <a:ext cx="21835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Smishing &amp; Vishing</a:t>
            </a:r>
            <a:endParaRPr lang="en-US" sz="1370" dirty="0"/>
          </a:p>
        </p:txBody>
      </p:sp>
      <p:sp>
        <p:nvSpPr>
          <p:cNvPr id="22" name="Text 19"/>
          <p:cNvSpPr/>
          <p:nvPr/>
        </p:nvSpPr>
        <p:spPr>
          <a:xfrm>
            <a:off x="563612" y="3552155"/>
            <a:ext cx="3060293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Scams delivered through SMS text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messages and fraudulent phone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3231319" y="3062585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3428702" y="3244900"/>
            <a:ext cx="171185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Phishing</a:t>
            </a:r>
            <a:endParaRPr lang="en-US" sz="1370" dirty="0"/>
          </a:p>
        </p:txBody>
      </p:sp>
      <p:sp>
        <p:nvSpPr>
          <p:cNvPr id="25" name="Text 22"/>
          <p:cNvSpPr/>
          <p:nvPr/>
        </p:nvSpPr>
        <p:spPr>
          <a:xfrm>
            <a:off x="3428702" y="3552155"/>
            <a:ext cx="2797939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email is copied, then its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are swapped for malicious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ones.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096409" y="3062585"/>
            <a:ext cx="2681288" cy="1266825"/>
          </a:xfrm>
          <a:prstGeom prst="roundRect">
            <a:avLst>
              <a:gd name="adj" fmla="val 7218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6265218" y="3360167"/>
            <a:ext cx="24640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bait, same goal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6265218" y="3644726"/>
            <a:ext cx="3075384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type aims to steal your trust,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credentials, or your money.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229" y="1611883"/>
            <a:ext cx="2681288" cy="1266825"/>
          </a:xfrm>
          <a:prstGeom prst="rect">
            <a:avLst/>
          </a:prstGeom>
        </p:spPr>
      </p:pic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1319" y="1611883"/>
            <a:ext cx="2681288" cy="1266825"/>
          </a:xfrm>
          <a:prstGeom prst="rect">
            <a:avLst/>
          </a:prstGeom>
        </p:spPr>
      </p:pic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409" y="1611883"/>
            <a:ext cx="2681288" cy="1266825"/>
          </a:xfrm>
          <a:prstGeom prst="rect">
            <a:avLst/>
          </a:prstGeom>
        </p:spPr>
      </p:pic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229" y="3062585"/>
            <a:ext cx="2681288" cy="1266825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1319" y="3062585"/>
            <a:ext cx="2681288" cy="1266825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928321" y="212750"/>
            <a:ext cx="16601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FORENSICS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4198" y="212750"/>
            <a:ext cx="6214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65782" y="966192"/>
            <a:ext cx="4352925" cy="32385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370545" y="970359"/>
            <a:ext cx="4343400" cy="909638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53343" y="1095524"/>
            <a:ext cx="48444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010469" y="1092101"/>
            <a:ext cx="35266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Support </a:t>
            </a:r>
            <a:r>
              <a:rPr lang="en-US" sz="112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&lt;support@1t-helpdesk.co&gt;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365538" y="1096008"/>
            <a:ext cx="166688" cy="1666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4419302" y="1095598"/>
            <a:ext cx="1340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53343" y="1476152"/>
            <a:ext cx="6934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1010469" y="1366391"/>
            <a:ext cx="4102358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URGENT: Your account will be disabled today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!!!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368478" y="1476561"/>
            <a:ext cx="161925" cy="16668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405164" y="1476152"/>
            <a:ext cx="1722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53343" y="2032546"/>
            <a:ext cx="14130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Dear Customer,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4365538" y="2007654"/>
            <a:ext cx="166688" cy="1666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4405685" y="2007245"/>
            <a:ext cx="1694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53343" y="2336453"/>
            <a:ext cx="5143746" cy="62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6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detced unusual activty on you account. You must</a:t>
            </a:r>
            <a:endParaRPr lang="en-US" sz="1120" dirty="0"/>
          </a:p>
          <a:p>
            <a:pPr marL="0" indent="0" algn="l">
              <a:lnSpc>
                <a:spcPts val="1786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within 24 hours or acces will be permanantly</a:t>
            </a:r>
            <a:endParaRPr lang="en-US" sz="1120" dirty="0"/>
          </a:p>
          <a:p>
            <a:pPr marL="0" indent="0" algn="l">
              <a:lnSpc>
                <a:spcPts val="1786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552338" y="3096592"/>
            <a:ext cx="1452562" cy="5334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699641" y="3176662"/>
            <a:ext cx="1344156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Account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2095277" y="3176662"/>
            <a:ext cx="18412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http://secure-verify-login.co/account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4365538" y="3279911"/>
            <a:ext cx="166688" cy="1666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4402485" y="3279502"/>
            <a:ext cx="1777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53715" y="3733726"/>
            <a:ext cx="2581275" cy="338137"/>
          </a:xfrm>
          <a:prstGeom prst="roundRect">
            <a:avLst>
              <a:gd name="adj" fmla="val 13521"/>
            </a:avLst>
          </a:prstGeom>
          <a:solidFill>
            <a:srgbClr val="DC2626">
              <a:alpha val="6000"/>
            </a:srgbClr>
          </a:solidFill>
          <a:ln w="4763">
            <a:solidFill>
              <a:srgbClr val="DC262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667792" y="3819004"/>
            <a:ext cx="28072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Attachment: account_form.docm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2855305" y="3819413"/>
            <a:ext cx="166688" cy="1666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2895972" y="3819004"/>
            <a:ext cx="1681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4993035" y="1120676"/>
            <a:ext cx="1197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FLAGS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4993035" y="1351359"/>
            <a:ext cx="42258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870" b="1" kern="0" spc="-37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Anatomy of a Phishing Email</a:t>
            </a:r>
            <a:endParaRPr lang="en-US" sz="1870" dirty="0"/>
          </a:p>
        </p:txBody>
      </p:sp>
      <p:sp>
        <p:nvSpPr>
          <p:cNvPr id="34" name="Shape 31"/>
          <p:cNvSpPr/>
          <p:nvPr/>
        </p:nvSpPr>
        <p:spPr>
          <a:xfrm>
            <a:off x="4993965" y="1756656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5054873" y="1763390"/>
            <a:ext cx="1340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5285556" y="1765250"/>
            <a:ext cx="4452357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Spoofed sender address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look-alike domain (the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 “1” replaces “i”).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4993965" y="2235808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5"/>
          <p:cNvSpPr/>
          <p:nvPr/>
        </p:nvSpPr>
        <p:spPr>
          <a:xfrm>
            <a:off x="5041255" y="2242542"/>
            <a:ext cx="1694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80" dirty="0"/>
          </a:p>
        </p:txBody>
      </p:sp>
      <p:sp>
        <p:nvSpPr>
          <p:cNvPr id="39" name="Text 36"/>
          <p:cNvSpPr/>
          <p:nvPr/>
        </p:nvSpPr>
        <p:spPr>
          <a:xfrm>
            <a:off x="5285556" y="2244403"/>
            <a:ext cx="4229085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greeting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“Dear Customer” instead of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name.</a:t>
            </a:r>
            <a:endParaRPr lang="en-US" sz="1120" dirty="0"/>
          </a:p>
        </p:txBody>
      </p:sp>
      <p:sp>
        <p:nvSpPr>
          <p:cNvPr id="40" name="Shape 37"/>
          <p:cNvSpPr/>
          <p:nvPr/>
        </p:nvSpPr>
        <p:spPr>
          <a:xfrm>
            <a:off x="4993965" y="2714960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8"/>
          <p:cNvSpPr/>
          <p:nvPr/>
        </p:nvSpPr>
        <p:spPr>
          <a:xfrm>
            <a:off x="5040139" y="2721694"/>
            <a:ext cx="1722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80" dirty="0"/>
          </a:p>
        </p:txBody>
      </p:sp>
      <p:sp>
        <p:nvSpPr>
          <p:cNvPr id="42" name="Text 39"/>
          <p:cNvSpPr/>
          <p:nvPr/>
        </p:nvSpPr>
        <p:spPr>
          <a:xfrm>
            <a:off x="5285556" y="2723555"/>
            <a:ext cx="4444618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Urgent, threatening tone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pressure to act before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think.</a:t>
            </a:r>
            <a:endParaRPr lang="en-US" sz="1120" dirty="0"/>
          </a:p>
        </p:txBody>
      </p:sp>
      <p:sp>
        <p:nvSpPr>
          <p:cNvPr id="43" name="Shape 40"/>
          <p:cNvSpPr/>
          <p:nvPr/>
        </p:nvSpPr>
        <p:spPr>
          <a:xfrm>
            <a:off x="4993965" y="3194112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1"/>
          <p:cNvSpPr/>
          <p:nvPr/>
        </p:nvSpPr>
        <p:spPr>
          <a:xfrm>
            <a:off x="5038055" y="3200846"/>
            <a:ext cx="1777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80" dirty="0"/>
          </a:p>
        </p:txBody>
      </p:sp>
      <p:sp>
        <p:nvSpPr>
          <p:cNvPr id="45" name="Text 42"/>
          <p:cNvSpPr/>
          <p:nvPr/>
        </p:nvSpPr>
        <p:spPr>
          <a:xfrm>
            <a:off x="5285556" y="3202707"/>
            <a:ext cx="4371097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link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destination does not match the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company.</a:t>
            </a:r>
            <a:endParaRPr lang="en-US" sz="1120" dirty="0"/>
          </a:p>
        </p:txBody>
      </p:sp>
      <p:sp>
        <p:nvSpPr>
          <p:cNvPr id="46" name="Shape 43"/>
          <p:cNvSpPr/>
          <p:nvPr/>
        </p:nvSpPr>
        <p:spPr>
          <a:xfrm>
            <a:off x="4993965" y="3673264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4"/>
          <p:cNvSpPr/>
          <p:nvPr/>
        </p:nvSpPr>
        <p:spPr>
          <a:xfrm>
            <a:off x="5041776" y="3679999"/>
            <a:ext cx="1681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80" dirty="0"/>
          </a:p>
        </p:txBody>
      </p:sp>
      <p:sp>
        <p:nvSpPr>
          <p:cNvPr id="48" name="Text 45"/>
          <p:cNvSpPr/>
          <p:nvPr/>
        </p:nvSpPr>
        <p:spPr>
          <a:xfrm>
            <a:off x="5285556" y="3681859"/>
            <a:ext cx="4543581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attachment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plus spelling and grammar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errors.</a:t>
            </a:r>
            <a:endParaRPr lang="en-US" sz="1120" dirty="0"/>
          </a:p>
        </p:txBody>
      </p:sp>
      <p:sp>
        <p:nvSpPr>
          <p:cNvPr id="49" name="Shape 46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7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51" name="Text 48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5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545" y="970359"/>
            <a:ext cx="4343400" cy="909638"/>
          </a:xfrm>
          <a:prstGeom prst="rect">
            <a:avLst/>
          </a:prstGeom>
        </p:spPr>
      </p:pic>
      <p:pic>
        <p:nvPicPr>
          <p:cNvPr id="5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928321" y="212750"/>
            <a:ext cx="16601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FORENSICS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4198" y="212750"/>
            <a:ext cx="6214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65782" y="966192"/>
            <a:ext cx="4352925" cy="32385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370545" y="970359"/>
            <a:ext cx="4343400" cy="909638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53343" y="1095524"/>
            <a:ext cx="48444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010469" y="1092101"/>
            <a:ext cx="35266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Support </a:t>
            </a:r>
            <a:r>
              <a:rPr lang="en-US" sz="112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&lt;support@1t-helpdesk.co&gt;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365538" y="1096008"/>
            <a:ext cx="166688" cy="1666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4419302" y="1095598"/>
            <a:ext cx="1340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53343" y="1476152"/>
            <a:ext cx="6934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1010469" y="1366391"/>
            <a:ext cx="4102358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URGENT: Your account will be disabled today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!!!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368478" y="1476561"/>
            <a:ext cx="161925" cy="16668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405164" y="1476152"/>
            <a:ext cx="1722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53343" y="2032546"/>
            <a:ext cx="14130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Dear Customer,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4365538" y="2007654"/>
            <a:ext cx="166688" cy="1666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4405685" y="2007245"/>
            <a:ext cx="1694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53343" y="2336453"/>
            <a:ext cx="5143746" cy="62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6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detced unusual activty on you account. You must</a:t>
            </a:r>
            <a:endParaRPr lang="en-US" sz="1120" dirty="0"/>
          </a:p>
          <a:p>
            <a:pPr marL="0" indent="0" algn="l">
              <a:lnSpc>
                <a:spcPts val="1786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within 24 hours or acces will be permanantly</a:t>
            </a:r>
            <a:endParaRPr lang="en-US" sz="1120" dirty="0"/>
          </a:p>
          <a:p>
            <a:pPr marL="0" indent="0" algn="l">
              <a:lnSpc>
                <a:spcPts val="1786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removed.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552338" y="3096592"/>
            <a:ext cx="1452562" cy="5334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699641" y="3176662"/>
            <a:ext cx="1344156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Account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2095277" y="3176662"/>
            <a:ext cx="18412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http://secure-verify-login.co/account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4365538" y="3279911"/>
            <a:ext cx="166688" cy="1666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4402485" y="3279502"/>
            <a:ext cx="1777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53715" y="3733726"/>
            <a:ext cx="2581275" cy="338137"/>
          </a:xfrm>
          <a:prstGeom prst="roundRect">
            <a:avLst>
              <a:gd name="adj" fmla="val 13521"/>
            </a:avLst>
          </a:prstGeom>
          <a:solidFill>
            <a:srgbClr val="DC2626">
              <a:alpha val="6000"/>
            </a:srgbClr>
          </a:solidFill>
          <a:ln w="4763">
            <a:solidFill>
              <a:srgbClr val="DC262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667792" y="3819004"/>
            <a:ext cx="28072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Attachment: account_form.docm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2855305" y="3819413"/>
            <a:ext cx="166688" cy="16668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2895972" y="3819004"/>
            <a:ext cx="1681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4993035" y="1120676"/>
            <a:ext cx="1197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FLAGS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4993035" y="1351359"/>
            <a:ext cx="42258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870" b="1" kern="0" spc="-37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Anatomy of a Phishing Email</a:t>
            </a:r>
            <a:endParaRPr lang="en-US" sz="1870" dirty="0"/>
          </a:p>
        </p:txBody>
      </p:sp>
      <p:sp>
        <p:nvSpPr>
          <p:cNvPr id="34" name="Shape 31"/>
          <p:cNvSpPr/>
          <p:nvPr/>
        </p:nvSpPr>
        <p:spPr>
          <a:xfrm>
            <a:off x="4993965" y="1756656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5054873" y="1763390"/>
            <a:ext cx="1340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5285556" y="1765250"/>
            <a:ext cx="4452357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Spoofed sender address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look-alike domain (the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 “1” replaces “i”).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4993965" y="2235808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5"/>
          <p:cNvSpPr/>
          <p:nvPr/>
        </p:nvSpPr>
        <p:spPr>
          <a:xfrm>
            <a:off x="5041255" y="2242542"/>
            <a:ext cx="1694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80" dirty="0"/>
          </a:p>
        </p:txBody>
      </p:sp>
      <p:sp>
        <p:nvSpPr>
          <p:cNvPr id="39" name="Text 36"/>
          <p:cNvSpPr/>
          <p:nvPr/>
        </p:nvSpPr>
        <p:spPr>
          <a:xfrm>
            <a:off x="5285556" y="2244403"/>
            <a:ext cx="4229085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greeting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“Dear Customer” instead of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name.</a:t>
            </a:r>
            <a:endParaRPr lang="en-US" sz="1120" dirty="0"/>
          </a:p>
        </p:txBody>
      </p:sp>
      <p:sp>
        <p:nvSpPr>
          <p:cNvPr id="40" name="Shape 37"/>
          <p:cNvSpPr/>
          <p:nvPr/>
        </p:nvSpPr>
        <p:spPr>
          <a:xfrm>
            <a:off x="4993965" y="2714960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8"/>
          <p:cNvSpPr/>
          <p:nvPr/>
        </p:nvSpPr>
        <p:spPr>
          <a:xfrm>
            <a:off x="5040139" y="2721694"/>
            <a:ext cx="1722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80" dirty="0"/>
          </a:p>
        </p:txBody>
      </p:sp>
      <p:sp>
        <p:nvSpPr>
          <p:cNvPr id="42" name="Text 39"/>
          <p:cNvSpPr/>
          <p:nvPr/>
        </p:nvSpPr>
        <p:spPr>
          <a:xfrm>
            <a:off x="5285556" y="2723555"/>
            <a:ext cx="4444618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Urgent, threatening tone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pressure to act before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think.</a:t>
            </a:r>
            <a:endParaRPr lang="en-US" sz="1120" dirty="0"/>
          </a:p>
        </p:txBody>
      </p:sp>
      <p:sp>
        <p:nvSpPr>
          <p:cNvPr id="43" name="Shape 40"/>
          <p:cNvSpPr/>
          <p:nvPr/>
        </p:nvSpPr>
        <p:spPr>
          <a:xfrm>
            <a:off x="4993965" y="3194112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1"/>
          <p:cNvSpPr/>
          <p:nvPr/>
        </p:nvSpPr>
        <p:spPr>
          <a:xfrm>
            <a:off x="5038055" y="3200846"/>
            <a:ext cx="1777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80" dirty="0"/>
          </a:p>
        </p:txBody>
      </p:sp>
      <p:sp>
        <p:nvSpPr>
          <p:cNvPr id="45" name="Text 42"/>
          <p:cNvSpPr/>
          <p:nvPr/>
        </p:nvSpPr>
        <p:spPr>
          <a:xfrm>
            <a:off x="5285556" y="3202707"/>
            <a:ext cx="4371097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link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destination does not match the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company.</a:t>
            </a:r>
            <a:endParaRPr lang="en-US" sz="1120" dirty="0"/>
          </a:p>
        </p:txBody>
      </p:sp>
      <p:sp>
        <p:nvSpPr>
          <p:cNvPr id="46" name="Shape 43"/>
          <p:cNvSpPr/>
          <p:nvPr/>
        </p:nvSpPr>
        <p:spPr>
          <a:xfrm>
            <a:off x="4993965" y="3673264"/>
            <a:ext cx="180975" cy="180975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4"/>
          <p:cNvSpPr/>
          <p:nvPr/>
        </p:nvSpPr>
        <p:spPr>
          <a:xfrm>
            <a:off x="5041776" y="3679999"/>
            <a:ext cx="1681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80" dirty="0"/>
          </a:p>
        </p:txBody>
      </p:sp>
      <p:sp>
        <p:nvSpPr>
          <p:cNvPr id="48" name="Text 45"/>
          <p:cNvSpPr/>
          <p:nvPr/>
        </p:nvSpPr>
        <p:spPr>
          <a:xfrm>
            <a:off x="5285556" y="3681859"/>
            <a:ext cx="4543581" cy="369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3"/>
              </a:lnSpc>
              <a:buNone/>
            </a:pP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attachment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plus spelling and grammar</a:t>
            </a:r>
            <a:endParaRPr lang="en-US" sz="1120" dirty="0"/>
          </a:p>
          <a:p>
            <a:pPr marL="0" indent="0" algn="l">
              <a:lnSpc>
                <a:spcPts val="1563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errors.</a:t>
            </a:r>
            <a:endParaRPr lang="en-US" sz="1120" dirty="0"/>
          </a:p>
        </p:txBody>
      </p:sp>
      <p:sp>
        <p:nvSpPr>
          <p:cNvPr id="49" name="Shape 46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7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51" name="Text 48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5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545" y="970359"/>
            <a:ext cx="4343400" cy="909638"/>
          </a:xfrm>
          <a:prstGeom prst="rect">
            <a:avLst/>
          </a:prstGeom>
        </p:spPr>
      </p:pic>
      <p:pic>
        <p:nvPicPr>
          <p:cNvPr id="5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119789" y="212750"/>
            <a:ext cx="14251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01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54913" y="212750"/>
            <a:ext cx="6074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283047"/>
            <a:ext cx="16327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EXAMPLE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508968"/>
            <a:ext cx="289554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Fake Invoice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365745" y="1950839"/>
            <a:ext cx="5258187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finance employee receives an “overdue invoice” that</a:t>
            </a:r>
            <a:endParaRPr lang="en-US" sz="1220" dirty="0"/>
          </a:p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appears to come from a known vendor.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366713" y="2561965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508508" y="2697175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690488" y="2669902"/>
            <a:ext cx="36949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sender domain is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slightly misspelled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366713" y="3037322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508508" y="3172532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690488" y="3145259"/>
            <a:ext cx="35627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attachment is a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macro-enabled file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366713" y="3512679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508508" y="3647889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690488" y="3620616"/>
            <a:ext cx="40263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message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pressures immediate payment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710113" y="1074390"/>
            <a:ext cx="4067175" cy="1928813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4714875" y="1077999"/>
            <a:ext cx="4057650" cy="657225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4878437" y="1190179"/>
            <a:ext cx="41001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From: Accounts </a:t>
            </a:r>
            <a:r>
              <a:rPr lang="en-US" sz="10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&lt;billing@acrne-supplies.com&gt;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878437" y="1436936"/>
            <a:ext cx="409558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#INV-90871 — OVERDUE, pay today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878437" y="1856556"/>
            <a:ext cx="4890872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payment of $48,200 is past due. Open the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invoice and remit immediately to avoid service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suspension.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4878028" y="2567732"/>
            <a:ext cx="1476375" cy="328613"/>
          </a:xfrm>
          <a:prstGeom prst="roundRect">
            <a:avLst>
              <a:gd name="adj" fmla="val 13913"/>
            </a:avLst>
          </a:prstGeom>
          <a:solidFill>
            <a:srgbClr val="DC2626">
              <a:alpha val="6000"/>
            </a:srgbClr>
          </a:solidFill>
          <a:ln w="4763">
            <a:solidFill>
              <a:srgbClr val="DC262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4992886" y="2648248"/>
            <a:ext cx="16778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invoice_90871.xlsm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4710113" y="3131344"/>
            <a:ext cx="4067175" cy="966787"/>
          </a:xfrm>
          <a:prstGeom prst="roundRect">
            <a:avLst>
              <a:gd name="adj" fmla="val 9458"/>
            </a:avLst>
          </a:prstGeom>
          <a:solidFill>
            <a:srgbClr val="DC2626"/>
          </a:solidFill>
          <a:ln/>
          <a:effectLst>
            <a:outerShdw blurRad="137160" dist="45720" dir="5400000" algn="bl" rotWithShape="0">
              <a:srgbClr val="DC2626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4891980" y="3280023"/>
            <a:ext cx="105694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kern="0" spc="65" dirty="0">
                <a:solidFill>
                  <a:srgbClr val="F8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4891980" y="3522018"/>
            <a:ext cx="4818898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the file installs malware that spreads</a:t>
            </a:r>
            <a:endParaRPr lang="en-US" sz="1300" dirty="0"/>
          </a:p>
          <a:p>
            <a:pPr marL="0" indent="0" algn="l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the network.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4875" y="1077999"/>
            <a:ext cx="4057650" cy="657225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119789" y="212750"/>
            <a:ext cx="142512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01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54913" y="212750"/>
            <a:ext cx="6074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283047"/>
            <a:ext cx="16327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EXAMPLE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508968"/>
            <a:ext cx="2895548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Fake Invoice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365745" y="1950839"/>
            <a:ext cx="5258187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finance employee receives an “overdue invoice” that</a:t>
            </a:r>
            <a:endParaRPr lang="en-US" sz="1220" dirty="0"/>
          </a:p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appears to come from a known vendor.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366713" y="2561965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508508" y="2697175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690488" y="2669902"/>
            <a:ext cx="36949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sender domain is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slightly misspelled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366713" y="3037322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508508" y="3172532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690488" y="3145259"/>
            <a:ext cx="35627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attachment is a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macro-enabled file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366713" y="3512679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6"/>
          <p:cNvSpPr/>
          <p:nvPr/>
        </p:nvSpPr>
        <p:spPr>
          <a:xfrm>
            <a:off x="508508" y="3647889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690488" y="3620616"/>
            <a:ext cx="40263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message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pressures immediate payment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710113" y="1074390"/>
            <a:ext cx="4067175" cy="1928813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4714875" y="1077999"/>
            <a:ext cx="4057650" cy="657225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4878437" y="1190179"/>
            <a:ext cx="41001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From: Accounts </a:t>
            </a:r>
            <a:r>
              <a:rPr lang="en-US" sz="10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&lt;billing@acrne-supplies.com&gt;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878437" y="1436936"/>
            <a:ext cx="409558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#INV-90871 — OVERDUE, pay today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878437" y="1856556"/>
            <a:ext cx="4890872" cy="596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payment of $48,200 is past due. Open the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attached invoice and remit immediately to avoid service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suspension.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4878028" y="2567732"/>
            <a:ext cx="1476375" cy="328613"/>
          </a:xfrm>
          <a:prstGeom prst="roundRect">
            <a:avLst>
              <a:gd name="adj" fmla="val 13913"/>
            </a:avLst>
          </a:prstGeom>
          <a:solidFill>
            <a:srgbClr val="DC2626">
              <a:alpha val="6000"/>
            </a:srgbClr>
          </a:solidFill>
          <a:ln w="4763">
            <a:solidFill>
              <a:srgbClr val="DC262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4992886" y="2648248"/>
            <a:ext cx="16778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invoice_90871.xlsm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4710113" y="3131344"/>
            <a:ext cx="4067175" cy="966787"/>
          </a:xfrm>
          <a:prstGeom prst="roundRect">
            <a:avLst>
              <a:gd name="adj" fmla="val 9458"/>
            </a:avLst>
          </a:prstGeom>
          <a:solidFill>
            <a:srgbClr val="DC2626"/>
          </a:solidFill>
          <a:ln/>
          <a:effectLst>
            <a:outerShdw blurRad="137160" dist="45720" dir="5400000" algn="bl" rotWithShape="0">
              <a:srgbClr val="DC2626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4891980" y="3280023"/>
            <a:ext cx="105694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kern="0" spc="65" dirty="0">
                <a:solidFill>
                  <a:srgbClr val="F8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4891980" y="3522018"/>
            <a:ext cx="4818898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the file installs malware that spreads</a:t>
            </a:r>
            <a:endParaRPr lang="en-US" sz="1300" dirty="0"/>
          </a:p>
          <a:p>
            <a:pPr marL="0" indent="0" algn="l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the network.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4875" y="1077999"/>
            <a:ext cx="4057650" cy="657225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081614" y="212750"/>
            <a:ext cx="146091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02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4272" y="212750"/>
            <a:ext cx="6213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66713" y="1183965"/>
            <a:ext cx="4067175" cy="1709737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371475" y="1189100"/>
            <a:ext cx="4057650" cy="657225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35037" y="1301279"/>
            <a:ext cx="46061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From: Security Team </a:t>
            </a:r>
            <a:r>
              <a:rPr lang="en-US" sz="10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&lt;no-reply@account-alerts.net&gt;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535037" y="1548036"/>
            <a:ext cx="412828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required: your account will be locked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5037" y="1967657"/>
            <a:ext cx="4741121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noticed a sign-in from a new device. To keep your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active, confirm your identity within 24 hours.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534144" y="2466231"/>
            <a:ext cx="1371600" cy="319088"/>
          </a:xfrm>
          <a:prstGeom prst="roundRect">
            <a:avLst>
              <a:gd name="adj" fmla="val 14328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681335" y="2541984"/>
            <a:ext cx="14575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Identity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1996232" y="2541984"/>
            <a:ext cx="207520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secure-login-portal.net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66713" y="3020318"/>
            <a:ext cx="4067175" cy="966787"/>
          </a:xfrm>
          <a:prstGeom prst="roundRect">
            <a:avLst>
              <a:gd name="adj" fmla="val 9458"/>
            </a:avLst>
          </a:prstGeom>
          <a:solidFill>
            <a:srgbClr val="0D9488"/>
          </a:solidFill>
          <a:ln/>
          <a:effectLst>
            <a:outerShdw blurRad="137160" dist="45720" dir="5400000" algn="bl" rotWithShape="0">
              <a:srgbClr val="0D9488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580" y="3168997"/>
            <a:ext cx="128272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kern="0" spc="65" dirty="0">
                <a:solidFill>
                  <a:srgbClr val="CFEA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LESSON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48580" y="3410992"/>
            <a:ext cx="4727094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is a manipulation tactic. Real</a:t>
            </a:r>
            <a:endParaRPr lang="en-US" sz="1300" dirty="0"/>
          </a:p>
          <a:p>
            <a:pPr marL="0" indent="0" algn="l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providers never rush you to a lookalike page.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09145" y="1283047"/>
            <a:ext cx="16327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EXAMPLE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4709145" y="1508968"/>
            <a:ext cx="387608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“Account Suspended”</a:t>
            </a:r>
            <a:endParaRPr lang="en-US" sz="2160" dirty="0"/>
          </a:p>
        </p:txBody>
      </p:sp>
      <p:sp>
        <p:nvSpPr>
          <p:cNvPr id="22" name="Text 19"/>
          <p:cNvSpPr/>
          <p:nvPr/>
        </p:nvSpPr>
        <p:spPr>
          <a:xfrm>
            <a:off x="4709145" y="1950839"/>
            <a:ext cx="5140650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email warns that your account will be locked in 24</a:t>
            </a:r>
            <a:endParaRPr lang="en-US" sz="1220" dirty="0"/>
          </a:p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unless you act right now.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4710113" y="2561965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4851908" y="2697175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5033888" y="2669902"/>
            <a:ext cx="34905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look like a real provider.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4710113" y="3037322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4"/>
          <p:cNvSpPr/>
          <p:nvPr/>
        </p:nvSpPr>
        <p:spPr>
          <a:xfrm>
            <a:off x="4851908" y="3172532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5033888" y="3145259"/>
            <a:ext cx="35083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link leads to a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lookalike login page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4710113" y="3512679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7"/>
          <p:cNvSpPr/>
          <p:nvPr/>
        </p:nvSpPr>
        <p:spPr>
          <a:xfrm>
            <a:off x="4851908" y="3647889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5033888" y="3620616"/>
            <a:ext cx="42171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password typed goes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straight to attackers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1189100"/>
            <a:ext cx="4057650" cy="657225"/>
          </a:xfrm>
          <a:prstGeom prst="rect">
            <a:avLst/>
          </a:prstGeom>
        </p:spPr>
      </p:pic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081614" y="212750"/>
            <a:ext cx="146091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02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4272" y="212750"/>
            <a:ext cx="6213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66713" y="1183965"/>
            <a:ext cx="4067175" cy="1709737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371475" y="1189100"/>
            <a:ext cx="4057650" cy="657225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535037" y="1301279"/>
            <a:ext cx="46061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From: Security Team </a:t>
            </a:r>
            <a:r>
              <a:rPr lang="en-US" sz="10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&lt;no-reply@account-alerts.net&gt;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535037" y="1548036"/>
            <a:ext cx="412828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15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required: your account will be locked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5037" y="1967657"/>
            <a:ext cx="4741121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noticed a sign-in from a new device. To keep your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active, confirm your identity within 24 hours.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534144" y="2466231"/>
            <a:ext cx="1371600" cy="319088"/>
          </a:xfrm>
          <a:prstGeom prst="roundRect">
            <a:avLst>
              <a:gd name="adj" fmla="val 14328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681335" y="2541984"/>
            <a:ext cx="145753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Identity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1996232" y="2541984"/>
            <a:ext cx="207520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secure-login-portal.net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66713" y="3020318"/>
            <a:ext cx="4067175" cy="966787"/>
          </a:xfrm>
          <a:prstGeom prst="roundRect">
            <a:avLst>
              <a:gd name="adj" fmla="val 9458"/>
            </a:avLst>
          </a:prstGeom>
          <a:solidFill>
            <a:srgbClr val="0D9488"/>
          </a:solidFill>
          <a:ln/>
          <a:effectLst>
            <a:outerShdw blurRad="137160" dist="45720" dir="5400000" algn="bl" rotWithShape="0">
              <a:srgbClr val="0D9488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580" y="3168997"/>
            <a:ext cx="128272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kern="0" spc="65" dirty="0">
                <a:solidFill>
                  <a:srgbClr val="CFEA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LESSON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48580" y="3410992"/>
            <a:ext cx="4727094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is a manipulation tactic. Real</a:t>
            </a:r>
            <a:endParaRPr lang="en-US" sz="1300" dirty="0"/>
          </a:p>
          <a:p>
            <a:pPr marL="0" indent="0" algn="l">
              <a:lnSpc>
                <a:spcPts val="181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providers never rush you to a lookalike page.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09145" y="1283047"/>
            <a:ext cx="16327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EXAMPLE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4709145" y="1508968"/>
            <a:ext cx="387608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160" b="1" kern="0" spc="-43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“Account Suspended”</a:t>
            </a:r>
            <a:endParaRPr lang="en-US" sz="2160" dirty="0"/>
          </a:p>
        </p:txBody>
      </p:sp>
      <p:sp>
        <p:nvSpPr>
          <p:cNvPr id="22" name="Text 19"/>
          <p:cNvSpPr/>
          <p:nvPr/>
        </p:nvSpPr>
        <p:spPr>
          <a:xfrm>
            <a:off x="4709145" y="1950839"/>
            <a:ext cx="5140650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email warns that your account will be locked in 24</a:t>
            </a:r>
            <a:endParaRPr lang="en-US" sz="1220" dirty="0"/>
          </a:p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unless you act right now.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4710113" y="2561965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4851908" y="2697175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5033888" y="2669902"/>
            <a:ext cx="34905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look like a real provider.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4710113" y="3037322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4"/>
          <p:cNvSpPr/>
          <p:nvPr/>
        </p:nvSpPr>
        <p:spPr>
          <a:xfrm>
            <a:off x="4851908" y="3172532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5033888" y="3145259"/>
            <a:ext cx="35083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link leads to a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lookalike login page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4710113" y="3512679"/>
            <a:ext cx="4067175" cy="395287"/>
          </a:xfrm>
          <a:prstGeom prst="roundRect">
            <a:avLst>
              <a:gd name="adj" fmla="val 18506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7"/>
          <p:cNvSpPr/>
          <p:nvPr/>
        </p:nvSpPr>
        <p:spPr>
          <a:xfrm>
            <a:off x="4851908" y="3647889"/>
            <a:ext cx="71438" cy="7143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5033888" y="3620616"/>
            <a:ext cx="421718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password typed goes </a:t>
            </a:r>
            <a:r>
              <a:rPr lang="en-US" sz="11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straight to attackers</a:t>
            </a: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20" dirty="0"/>
          </a:p>
        </p:txBody>
      </p:sp>
      <p:sp>
        <p:nvSpPr>
          <p:cNvPr id="32" name="Shape 29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1189100"/>
            <a:ext cx="4057650" cy="657225"/>
          </a:xfrm>
          <a:prstGeom prst="rect">
            <a:avLst/>
          </a:prstGeom>
        </p:spPr>
      </p:pic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395344" y="212750"/>
            <a:ext cx="105297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SITES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4198" y="212750"/>
            <a:ext cx="6214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117402"/>
            <a:ext cx="30814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BEFORE YOU TRUST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333798"/>
            <a:ext cx="431827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Spotting Fake Websites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366229" y="1822996"/>
            <a:ext cx="4090987" cy="1304925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 w="4763">
            <a:solidFill>
              <a:srgbClr val="0D9488">
                <a:alpha val="40000"/>
              </a:srgbClr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70991" y="1828242"/>
            <a:ext cx="4081462" cy="36195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53" y="1951955"/>
            <a:ext cx="109686" cy="109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488" y="1919585"/>
            <a:ext cx="12574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56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LEGITIMATE</a:t>
            </a:r>
            <a:endParaRPr lang="en-US" sz="1120" dirty="0"/>
          </a:p>
        </p:txBody>
      </p:sp>
      <p:sp>
        <p:nvSpPr>
          <p:cNvPr id="15" name="Text 11"/>
          <p:cNvSpPr/>
          <p:nvPr/>
        </p:nvSpPr>
        <p:spPr>
          <a:xfrm>
            <a:off x="507653" y="2326779"/>
            <a:ext cx="34220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kern="0" spc="-34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https://accounts.</a:t>
            </a:r>
            <a:r>
              <a:rPr lang="en-US" sz="1370" b="1" kern="0" spc="-34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yourbank</a:t>
            </a:r>
            <a:r>
              <a:rPr lang="en-US" sz="1370" b="1" kern="0" spc="-34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.com</a:t>
            </a:r>
            <a:endParaRPr lang="en-US" sz="1370" dirty="0"/>
          </a:p>
        </p:txBody>
      </p:sp>
      <p:sp>
        <p:nvSpPr>
          <p:cNvPr id="16" name="Text 12"/>
          <p:cNvSpPr/>
          <p:nvPr/>
        </p:nvSpPr>
        <p:spPr>
          <a:xfrm>
            <a:off x="507653" y="2634779"/>
            <a:ext cx="4760178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spelling · official top-level domain · matches the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organization.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4686784" y="1822996"/>
            <a:ext cx="4090987" cy="1304925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 w="4763">
            <a:solidFill>
              <a:srgbClr val="DC2626">
                <a:alpha val="40000"/>
              </a:srgbClr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4691546" y="1828242"/>
            <a:ext cx="4081462" cy="361950"/>
          </a:xfrm>
          <a:prstGeom prst="rect">
            <a:avLst/>
          </a:prstGeom>
          <a:solidFill>
            <a:srgbClr val="DC2626">
              <a:alpha val="6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208" y="1951955"/>
            <a:ext cx="109686" cy="10968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11043" y="1919585"/>
            <a:ext cx="5672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5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</a:t>
            </a:r>
            <a:endParaRPr lang="en-US" sz="1120" dirty="0"/>
          </a:p>
        </p:txBody>
      </p:sp>
      <p:sp>
        <p:nvSpPr>
          <p:cNvPr id="21" name="Text 16"/>
          <p:cNvSpPr/>
          <p:nvPr/>
        </p:nvSpPr>
        <p:spPr>
          <a:xfrm>
            <a:off x="4828208" y="2326779"/>
            <a:ext cx="40604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kern="0" spc="-34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https://accounts-</a:t>
            </a:r>
            <a:r>
              <a:rPr lang="en-US" sz="1370" b="1" kern="0" spc="-34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yourbank-secure</a:t>
            </a:r>
            <a:r>
              <a:rPr lang="en-US" sz="1370" b="1" kern="0" spc="-34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.co</a:t>
            </a:r>
            <a:endParaRPr lang="en-US" sz="1370" dirty="0"/>
          </a:p>
        </p:txBody>
      </p:sp>
      <p:sp>
        <p:nvSpPr>
          <p:cNvPr id="22" name="Text 17"/>
          <p:cNvSpPr/>
          <p:nvPr/>
        </p:nvSpPr>
        <p:spPr>
          <a:xfrm>
            <a:off x="4828208" y="2634779"/>
            <a:ext cx="4666052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words · odd domain ending · padlock present but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is still a fraud.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366713" y="3281660"/>
            <a:ext cx="8410575" cy="790575"/>
          </a:xfrm>
          <a:prstGeom prst="roundRect">
            <a:avLst>
              <a:gd name="adj" fmla="val 11566"/>
            </a:avLst>
          </a:prstGeom>
          <a:solidFill>
            <a:srgbClr val="1E3A5F">
              <a:alpha val="4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19"/>
          <p:cNvSpPr/>
          <p:nvPr/>
        </p:nvSpPr>
        <p:spPr>
          <a:xfrm>
            <a:off x="553343" y="3403997"/>
            <a:ext cx="1641239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full URL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entering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anything.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2188220" y="3403997"/>
            <a:ext cx="1889083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misspellings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extra words.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3823097" y="3403997"/>
            <a:ext cx="194799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padlock</a:t>
            </a: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means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encryption, not safety.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5457974" y="3403997"/>
            <a:ext cx="1661167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 over links</a:t>
            </a: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the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destination.</a:t>
            </a:r>
            <a:endParaRPr lang="en-US" sz="1080" dirty="0"/>
          </a:p>
        </p:txBody>
      </p:sp>
      <p:sp>
        <p:nvSpPr>
          <p:cNvPr id="28" name="Text 23"/>
          <p:cNvSpPr/>
          <p:nvPr/>
        </p:nvSpPr>
        <p:spPr>
          <a:xfrm>
            <a:off x="7092851" y="3403997"/>
            <a:ext cx="1999848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unsure</a:t>
            </a: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type the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yourself.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5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1" name="Text 26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991" y="1828242"/>
            <a:ext cx="4081462" cy="361950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1546" y="1828242"/>
            <a:ext cx="4081462" cy="361950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395344" y="212750"/>
            <a:ext cx="105297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SITES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44198" y="212750"/>
            <a:ext cx="6214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117402"/>
            <a:ext cx="30814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BEFORE YOU TRUST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333798"/>
            <a:ext cx="431827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Spotting Fake Websites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366229" y="1822996"/>
            <a:ext cx="4090987" cy="1304925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 w="4763">
            <a:solidFill>
              <a:srgbClr val="0D9488">
                <a:alpha val="40000"/>
              </a:srgbClr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70991" y="1828242"/>
            <a:ext cx="4081462" cy="36195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53" y="1951955"/>
            <a:ext cx="109686" cy="109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488" y="1919585"/>
            <a:ext cx="12574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56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LEGITIMATE</a:t>
            </a:r>
            <a:endParaRPr lang="en-US" sz="1120" dirty="0"/>
          </a:p>
        </p:txBody>
      </p:sp>
      <p:sp>
        <p:nvSpPr>
          <p:cNvPr id="15" name="Text 11"/>
          <p:cNvSpPr/>
          <p:nvPr/>
        </p:nvSpPr>
        <p:spPr>
          <a:xfrm>
            <a:off x="507653" y="2326779"/>
            <a:ext cx="34220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kern="0" spc="-34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https://accounts.</a:t>
            </a:r>
            <a:r>
              <a:rPr lang="en-US" sz="1370" b="1" kern="0" spc="-34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yourbank</a:t>
            </a:r>
            <a:r>
              <a:rPr lang="en-US" sz="1370" b="1" kern="0" spc="-34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.com</a:t>
            </a:r>
            <a:endParaRPr lang="en-US" sz="1370" dirty="0"/>
          </a:p>
        </p:txBody>
      </p:sp>
      <p:sp>
        <p:nvSpPr>
          <p:cNvPr id="16" name="Text 12"/>
          <p:cNvSpPr/>
          <p:nvPr/>
        </p:nvSpPr>
        <p:spPr>
          <a:xfrm>
            <a:off x="507653" y="2634779"/>
            <a:ext cx="4760178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spelling · official top-level domain · matches the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organization.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4686784" y="1822996"/>
            <a:ext cx="4090987" cy="1304925"/>
          </a:xfrm>
          <a:prstGeom prst="roundRect">
            <a:avLst>
              <a:gd name="adj" fmla="val 7007"/>
            </a:avLst>
          </a:prstGeom>
          <a:solidFill>
            <a:srgbClr val="FFFFFF"/>
          </a:solidFill>
          <a:ln w="4763">
            <a:solidFill>
              <a:srgbClr val="DC2626">
                <a:alpha val="40000"/>
              </a:srgbClr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4691546" y="1828242"/>
            <a:ext cx="4081462" cy="361950"/>
          </a:xfrm>
          <a:prstGeom prst="rect">
            <a:avLst/>
          </a:prstGeom>
          <a:solidFill>
            <a:srgbClr val="DC2626">
              <a:alpha val="6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208" y="1951955"/>
            <a:ext cx="109686" cy="10968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11043" y="1919585"/>
            <a:ext cx="5672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kern="0" spc="56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</a:t>
            </a:r>
            <a:endParaRPr lang="en-US" sz="1120" dirty="0"/>
          </a:p>
        </p:txBody>
      </p:sp>
      <p:sp>
        <p:nvSpPr>
          <p:cNvPr id="21" name="Text 16"/>
          <p:cNvSpPr/>
          <p:nvPr/>
        </p:nvSpPr>
        <p:spPr>
          <a:xfrm>
            <a:off x="4828208" y="2326779"/>
            <a:ext cx="40604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70" b="1" kern="0" spc="-34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https://accounts-</a:t>
            </a:r>
            <a:r>
              <a:rPr lang="en-US" sz="1370" b="1" kern="0" spc="-34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yourbank-secure</a:t>
            </a:r>
            <a:r>
              <a:rPr lang="en-US" sz="1370" b="1" kern="0" spc="-34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.co</a:t>
            </a:r>
            <a:endParaRPr lang="en-US" sz="1370" dirty="0"/>
          </a:p>
        </p:txBody>
      </p:sp>
      <p:sp>
        <p:nvSpPr>
          <p:cNvPr id="22" name="Text 17"/>
          <p:cNvSpPr/>
          <p:nvPr/>
        </p:nvSpPr>
        <p:spPr>
          <a:xfrm>
            <a:off x="4828208" y="2634779"/>
            <a:ext cx="4666052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words · odd domain ending · padlock present but</a:t>
            </a:r>
            <a:endParaRPr lang="en-US" sz="108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is still a fraud.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366713" y="3281660"/>
            <a:ext cx="8410575" cy="790575"/>
          </a:xfrm>
          <a:prstGeom prst="roundRect">
            <a:avLst>
              <a:gd name="adj" fmla="val 11566"/>
            </a:avLst>
          </a:prstGeom>
          <a:solidFill>
            <a:srgbClr val="1E3A5F">
              <a:alpha val="4000"/>
            </a:srgbClr>
          </a:solidFill>
          <a:ln w="4763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19"/>
          <p:cNvSpPr/>
          <p:nvPr/>
        </p:nvSpPr>
        <p:spPr>
          <a:xfrm>
            <a:off x="553343" y="3403997"/>
            <a:ext cx="1641239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full URL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entering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anything.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2188220" y="3403997"/>
            <a:ext cx="1889083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misspellings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extra words.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3823097" y="3403997"/>
            <a:ext cx="194799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padlock</a:t>
            </a: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means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encryption, not safety.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5457974" y="3403997"/>
            <a:ext cx="1661167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 over links</a:t>
            </a: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the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destination.</a:t>
            </a:r>
            <a:endParaRPr lang="en-US" sz="1080" dirty="0"/>
          </a:p>
        </p:txBody>
      </p:sp>
      <p:sp>
        <p:nvSpPr>
          <p:cNvPr id="28" name="Text 23"/>
          <p:cNvSpPr/>
          <p:nvPr/>
        </p:nvSpPr>
        <p:spPr>
          <a:xfrm>
            <a:off x="7092851" y="3403997"/>
            <a:ext cx="1999848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108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unsure</a:t>
            </a: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type the</a:t>
            </a:r>
            <a:endParaRPr lang="en-US" sz="108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yourself.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5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1" name="Text 26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991" y="1828242"/>
            <a:ext cx="4081462" cy="361950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1546" y="1828242"/>
            <a:ext cx="4081462" cy="361950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789911" y="212750"/>
            <a:ext cx="187834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CHECK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3666" y="212750"/>
            <a:ext cx="5831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66452" y="1463055"/>
            <a:ext cx="2376487" cy="300038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93737" y="1529283"/>
            <a:ext cx="28156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080" b="1" kern="0" spc="86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01 — SPOT THE PHISH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65745" y="1876499"/>
            <a:ext cx="447276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2020" b="1" kern="0" spc="-4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Safe, or a phishing attempt?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366713" y="2326295"/>
            <a:ext cx="4067175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71475" y="2330797"/>
            <a:ext cx="4057650" cy="376238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535037" y="2432745"/>
            <a:ext cx="16451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Incoming message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35037" y="2838524"/>
            <a:ext cx="4432429" cy="4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“Your password expires today. Click here to</a:t>
            </a:r>
            <a:endParaRPr lang="en-US" sz="126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your account active:”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535037" y="3395588"/>
            <a:ext cx="2991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12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http://company-secure-login.net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710113" y="1571030"/>
            <a:ext cx="4067175" cy="2028825"/>
          </a:xfrm>
          <a:prstGeom prst="roundRect">
            <a:avLst>
              <a:gd name="adj" fmla="val 5408"/>
            </a:avLst>
          </a:prstGeom>
          <a:solidFill>
            <a:srgbClr val="0D9488"/>
          </a:solidFill>
          <a:ln/>
          <a:effectLst>
            <a:outerShdw blurRad="182880" dist="73152" dir="5400000" algn="bl" rotWithShape="0">
              <a:srgbClr val="0D9488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4936778" y="1776040"/>
            <a:ext cx="276225" cy="276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588" y="1831851"/>
            <a:ext cx="164529" cy="16452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416" y="1823442"/>
            <a:ext cx="172269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Answer: Phishing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937745" y="2177951"/>
            <a:ext cx="4724772" cy="118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phishing attempt. It combines </a:t>
            </a: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(“expires today”) with an </a:t>
            </a: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unofficial lookalike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does not belong to your company.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enter credentials from a link like this —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to the official site directly.</a:t>
            </a:r>
            <a:endParaRPr lang="en-US" sz="1260" dirty="0"/>
          </a:p>
        </p:txBody>
      </p:sp>
      <p:sp>
        <p:nvSpPr>
          <p:cNvPr id="22" name="Shape 18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475" y="2330797"/>
            <a:ext cx="4057650" cy="376238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789911" y="212750"/>
            <a:ext cx="187834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CHECK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3666" y="212750"/>
            <a:ext cx="5831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66452" y="1463055"/>
            <a:ext cx="2376487" cy="300038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93737" y="1529283"/>
            <a:ext cx="28156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080" b="1" kern="0" spc="86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01 — SPOT THE PHISH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65745" y="1876499"/>
            <a:ext cx="447276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2020" b="1" kern="0" spc="-4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Safe, or a phishing attempt?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366713" y="2326295"/>
            <a:ext cx="4067175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71475" y="2330797"/>
            <a:ext cx="4057650" cy="376238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535037" y="2432745"/>
            <a:ext cx="16451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Incoming message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35037" y="2838524"/>
            <a:ext cx="4432429" cy="4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“Your password expires today. Click here to</a:t>
            </a:r>
            <a:endParaRPr lang="en-US" sz="126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your account active:”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535037" y="3395588"/>
            <a:ext cx="2991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12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http://company-secure-login.net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710113" y="1571030"/>
            <a:ext cx="4067175" cy="2028825"/>
          </a:xfrm>
          <a:prstGeom prst="roundRect">
            <a:avLst>
              <a:gd name="adj" fmla="val 5408"/>
            </a:avLst>
          </a:prstGeom>
          <a:solidFill>
            <a:srgbClr val="0D9488"/>
          </a:solidFill>
          <a:ln/>
          <a:effectLst>
            <a:outerShdw blurRad="182880" dist="73152" dir="5400000" algn="bl" rotWithShape="0">
              <a:srgbClr val="0D9488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4936778" y="1776040"/>
            <a:ext cx="276225" cy="276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588" y="1831851"/>
            <a:ext cx="164529" cy="16452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416" y="1823442"/>
            <a:ext cx="172269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Answer: Phishing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937745" y="2177951"/>
            <a:ext cx="4724772" cy="118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phishing attempt. It combines </a:t>
            </a: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(“expires today”) with an </a:t>
            </a: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unofficial lookalike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does not belong to your company.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enter credentials from a link like this —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to the official site directly.</a:t>
            </a:r>
            <a:endParaRPr lang="en-US" sz="1260" dirty="0"/>
          </a:p>
        </p:txBody>
      </p:sp>
      <p:sp>
        <p:nvSpPr>
          <p:cNvPr id="22" name="Shape 18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475" y="2330797"/>
            <a:ext cx="4057650" cy="376238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274049" y="212750"/>
            <a:ext cx="129007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PSYCHOLOGY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405292" y="212750"/>
            <a:ext cx="5420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164506"/>
            <a:ext cx="2204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HUMAN FACTOR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380902"/>
            <a:ext cx="483137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Engineering Tactics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65745" y="1812801"/>
            <a:ext cx="762488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26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exploit human psychology to push you into acting before you think.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366303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12617" y="2370832"/>
            <a:ext cx="107899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329476" y="2676674"/>
            <a:ext cx="1645206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Pretending to be a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boss, executive, or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2076227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2378601" y="2370832"/>
            <a:ext cx="96687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</a:t>
            </a:r>
            <a:endParaRPr lang="en-US" sz="1330" dirty="0"/>
          </a:p>
        </p:txBody>
      </p:sp>
      <p:sp>
        <p:nvSpPr>
          <p:cNvPr id="17" name="Text 14"/>
          <p:cNvSpPr/>
          <p:nvPr/>
        </p:nvSpPr>
        <p:spPr>
          <a:xfrm>
            <a:off x="2147396" y="2676674"/>
            <a:ext cx="1429286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“Act now or lose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access” to rush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3786150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4306814" y="2370832"/>
            <a:ext cx="53029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</a:t>
            </a:r>
            <a:endParaRPr lang="en-US" sz="1330" dirty="0"/>
          </a:p>
        </p:txBody>
      </p:sp>
      <p:sp>
        <p:nvSpPr>
          <p:cNvPr id="20" name="Text 17"/>
          <p:cNvSpPr/>
          <p:nvPr/>
        </p:nvSpPr>
        <p:spPr>
          <a:xfrm>
            <a:off x="3766628" y="2676674"/>
            <a:ext cx="1610670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 of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penalties, fines, or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lockout.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5496074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5760731" y="2370832"/>
            <a:ext cx="104223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Curiosity</a:t>
            </a:r>
            <a:endParaRPr lang="en-US" sz="1330" dirty="0"/>
          </a:p>
        </p:txBody>
      </p:sp>
      <p:sp>
        <p:nvSpPr>
          <p:cNvPr id="23" name="Text 20"/>
          <p:cNvSpPr/>
          <p:nvPr/>
        </p:nvSpPr>
        <p:spPr>
          <a:xfrm>
            <a:off x="5561257" y="2676674"/>
            <a:ext cx="1441185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Tempting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attachments,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prizes, or offers.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7205997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399117" y="2370832"/>
            <a:ext cx="118531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Familiarity</a:t>
            </a:r>
            <a:endParaRPr lang="en-US" sz="1330" dirty="0"/>
          </a:p>
        </p:txBody>
      </p:sp>
      <p:sp>
        <p:nvSpPr>
          <p:cNvPr id="26" name="Text 23"/>
          <p:cNvSpPr/>
          <p:nvPr/>
        </p:nvSpPr>
        <p:spPr>
          <a:xfrm>
            <a:off x="7205253" y="2676674"/>
            <a:ext cx="157303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Impersonating a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colleague.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366713" y="3572619"/>
            <a:ext cx="8410575" cy="452437"/>
          </a:xfrm>
          <a:prstGeom prst="roundRect">
            <a:avLst>
              <a:gd name="adj" fmla="val 2021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-248216" y="3699570"/>
            <a:ext cx="96404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message makes you feel </a:t>
            </a:r>
            <a:r>
              <a:rPr lang="en-US" sz="12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rushed, scared, or too curious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slow down. That feeling is the attack.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274049" y="212750"/>
            <a:ext cx="129007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PSYCHOLOGY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405292" y="212750"/>
            <a:ext cx="54200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164506"/>
            <a:ext cx="2204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HUMAN FACTOR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380902"/>
            <a:ext cx="483137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Engineering Tactics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65745" y="1812801"/>
            <a:ext cx="762488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26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exploit human psychology to push you into acting before you think.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366303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12617" y="2370832"/>
            <a:ext cx="107899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329476" y="2676674"/>
            <a:ext cx="1645206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Pretending to be a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boss, executive, or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2076227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2378601" y="2370832"/>
            <a:ext cx="96687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</a:t>
            </a:r>
            <a:endParaRPr lang="en-US" sz="1330" dirty="0"/>
          </a:p>
        </p:txBody>
      </p:sp>
      <p:sp>
        <p:nvSpPr>
          <p:cNvPr id="17" name="Text 14"/>
          <p:cNvSpPr/>
          <p:nvPr/>
        </p:nvSpPr>
        <p:spPr>
          <a:xfrm>
            <a:off x="2147396" y="2676674"/>
            <a:ext cx="1429286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“Act now or lose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access” to rush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3786150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4306814" y="2370832"/>
            <a:ext cx="53029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</a:t>
            </a:r>
            <a:endParaRPr lang="en-US" sz="1330" dirty="0"/>
          </a:p>
        </p:txBody>
      </p:sp>
      <p:sp>
        <p:nvSpPr>
          <p:cNvPr id="20" name="Text 17"/>
          <p:cNvSpPr/>
          <p:nvPr/>
        </p:nvSpPr>
        <p:spPr>
          <a:xfrm>
            <a:off x="3766628" y="2676674"/>
            <a:ext cx="1610670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 of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penalties, fines, or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lockout.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5496074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5760731" y="2370832"/>
            <a:ext cx="104223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Curiosity</a:t>
            </a:r>
            <a:endParaRPr lang="en-US" sz="1330" dirty="0"/>
          </a:p>
        </p:txBody>
      </p:sp>
      <p:sp>
        <p:nvSpPr>
          <p:cNvPr id="23" name="Text 20"/>
          <p:cNvSpPr/>
          <p:nvPr/>
        </p:nvSpPr>
        <p:spPr>
          <a:xfrm>
            <a:off x="5561257" y="2676674"/>
            <a:ext cx="1441185" cy="564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Tempting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attachments,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prizes, or offers.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7205997" y="2188592"/>
            <a:ext cx="1571625" cy="122872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399117" y="2370832"/>
            <a:ext cx="118531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486"/>
              </a:spcAft>
              <a:buNone/>
            </a:pPr>
            <a:r>
              <a:rPr lang="en-US" sz="133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Familiarity</a:t>
            </a:r>
            <a:endParaRPr lang="en-US" sz="1330" dirty="0"/>
          </a:p>
        </p:txBody>
      </p:sp>
      <p:sp>
        <p:nvSpPr>
          <p:cNvPr id="26" name="Text 23"/>
          <p:cNvSpPr/>
          <p:nvPr/>
        </p:nvSpPr>
        <p:spPr>
          <a:xfrm>
            <a:off x="7205253" y="2676674"/>
            <a:ext cx="157303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Impersonating a</a:t>
            </a:r>
            <a:endParaRPr lang="en-US" sz="1080" dirty="0"/>
          </a:p>
          <a:p>
            <a:pPr marL="0" indent="0" algn="ctr">
              <a:lnSpc>
                <a:spcPts val="1566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colleague.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366713" y="3572619"/>
            <a:ext cx="8410575" cy="452437"/>
          </a:xfrm>
          <a:prstGeom prst="roundRect">
            <a:avLst>
              <a:gd name="adj" fmla="val 20211"/>
            </a:avLst>
          </a:prstGeom>
          <a:solidFill>
            <a:srgbClr val="0D9488">
              <a:alpha val="8000"/>
            </a:srgbClr>
          </a:solidFill>
          <a:ln w="4763">
            <a:solidFill>
              <a:srgbClr val="0D948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-248216" y="3699570"/>
            <a:ext cx="964043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message makes you feel </a:t>
            </a:r>
            <a:r>
              <a:rPr lang="en-US" sz="12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rushed, scared, or too curious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slow down. That feeling is the attack.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937846" y="212750"/>
            <a:ext cx="169125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CHANNELS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7684" y="212750"/>
            <a:ext cx="57789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911721"/>
            <a:ext cx="20747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INBOXES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128117"/>
            <a:ext cx="4160111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Beyond Email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365745" y="1619101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554385" y="1778198"/>
            <a:ext cx="290513" cy="290513"/>
          </a:xfrm>
          <a:prstGeom prst="roundRect">
            <a:avLst>
              <a:gd name="adj" fmla="val 2518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39" y="1841153"/>
            <a:ext cx="164529" cy="1645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3084" y="1800969"/>
            <a:ext cx="18134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Smishing (SMS)</a:t>
            </a:r>
            <a:endParaRPr lang="en-US" sz="1370" dirty="0"/>
          </a:p>
        </p:txBody>
      </p:sp>
      <p:sp>
        <p:nvSpPr>
          <p:cNvPr id="15" name="Text 11"/>
          <p:cNvSpPr/>
          <p:nvPr/>
        </p:nvSpPr>
        <p:spPr>
          <a:xfrm>
            <a:off x="983084" y="2097881"/>
            <a:ext cx="3943514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delivery, bank, or prize texts containing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links.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4663418" y="1619101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4852020" y="1778198"/>
            <a:ext cx="290513" cy="290513"/>
          </a:xfrm>
          <a:prstGeom prst="roundRect">
            <a:avLst>
              <a:gd name="adj" fmla="val 2518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74" y="1841153"/>
            <a:ext cx="164529" cy="1645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80720" y="1800969"/>
            <a:ext cx="174387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Vishing (Voice)</a:t>
            </a:r>
            <a:endParaRPr lang="en-US" sz="1370" dirty="0"/>
          </a:p>
        </p:txBody>
      </p:sp>
      <p:sp>
        <p:nvSpPr>
          <p:cNvPr id="20" name="Text 15"/>
          <p:cNvSpPr/>
          <p:nvPr/>
        </p:nvSpPr>
        <p:spPr>
          <a:xfrm>
            <a:off x="5280720" y="2097881"/>
            <a:ext cx="3824042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Callers posing as support or fraud teams to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information.</a:t>
            </a:r>
            <a:endParaRPr lang="en-US" sz="1120" dirty="0"/>
          </a:p>
        </p:txBody>
      </p:sp>
      <p:sp>
        <p:nvSpPr>
          <p:cNvPr id="21" name="Shape 16"/>
          <p:cNvSpPr/>
          <p:nvPr/>
        </p:nvSpPr>
        <p:spPr>
          <a:xfrm>
            <a:off x="365745" y="2846859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554385" y="3005956"/>
            <a:ext cx="290513" cy="290513"/>
          </a:xfrm>
          <a:prstGeom prst="roundRect">
            <a:avLst>
              <a:gd name="adj" fmla="val 2518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39" y="3068910"/>
            <a:ext cx="164529" cy="16452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3084" y="3028727"/>
            <a:ext cx="20817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QR-Code Phishing</a:t>
            </a:r>
            <a:endParaRPr lang="en-US" sz="1370" dirty="0"/>
          </a:p>
        </p:txBody>
      </p:sp>
      <p:sp>
        <p:nvSpPr>
          <p:cNvPr id="25" name="Text 19"/>
          <p:cNvSpPr/>
          <p:nvPr/>
        </p:nvSpPr>
        <p:spPr>
          <a:xfrm>
            <a:off x="983084" y="3325639"/>
            <a:ext cx="3901529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codes hidden in posters, flyers, or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emails.</a:t>
            </a:r>
            <a:endParaRPr lang="en-US" sz="1120" dirty="0"/>
          </a:p>
        </p:txBody>
      </p:sp>
      <p:sp>
        <p:nvSpPr>
          <p:cNvPr id="26" name="Shape 20"/>
          <p:cNvSpPr/>
          <p:nvPr/>
        </p:nvSpPr>
        <p:spPr>
          <a:xfrm>
            <a:off x="4663418" y="2846859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1"/>
          <p:cNvSpPr/>
          <p:nvPr/>
        </p:nvSpPr>
        <p:spPr>
          <a:xfrm>
            <a:off x="4852020" y="3005956"/>
            <a:ext cx="290513" cy="290513"/>
          </a:xfrm>
          <a:prstGeom prst="roundRect">
            <a:avLst>
              <a:gd name="adj" fmla="val 2518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74" y="3068910"/>
            <a:ext cx="164529" cy="16452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0720" y="3028727"/>
            <a:ext cx="146275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</a:t>
            </a:r>
            <a:endParaRPr lang="en-US" sz="1370" dirty="0"/>
          </a:p>
        </p:txBody>
      </p:sp>
      <p:sp>
        <p:nvSpPr>
          <p:cNvPr id="30" name="Text 23"/>
          <p:cNvSpPr/>
          <p:nvPr/>
        </p:nvSpPr>
        <p:spPr>
          <a:xfrm>
            <a:off x="5280720" y="3325639"/>
            <a:ext cx="41476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profiles, impersonation, and too-good-to-be-true</a:t>
            </a:r>
            <a:endParaRPr lang="en-US" sz="1120" dirty="0"/>
          </a:p>
        </p:txBody>
      </p:sp>
      <p:sp>
        <p:nvSpPr>
          <p:cNvPr id="31" name="Text 24"/>
          <p:cNvSpPr/>
          <p:nvPr/>
        </p:nvSpPr>
        <p:spPr>
          <a:xfrm>
            <a:off x="5821114" y="3538240"/>
            <a:ext cx="11633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prize scams.</a:t>
            </a:r>
            <a:endParaRPr lang="en-US" sz="1120" dirty="0"/>
          </a:p>
        </p:txBody>
      </p:sp>
      <p:sp>
        <p:nvSpPr>
          <p:cNvPr id="32" name="Text 25"/>
          <p:cNvSpPr/>
          <p:nvPr/>
        </p:nvSpPr>
        <p:spPr>
          <a:xfrm>
            <a:off x="2401264" y="4064124"/>
            <a:ext cx="43413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caution applies on every channel.</a:t>
            </a:r>
            <a:endParaRPr lang="en-US" sz="1220" dirty="0"/>
          </a:p>
        </p:txBody>
      </p:sp>
      <p:sp>
        <p:nvSpPr>
          <p:cNvPr id="33" name="Shape 26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27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5" name="Text 28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937846" y="212750"/>
            <a:ext cx="169125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CHANNELS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7684" y="212750"/>
            <a:ext cx="57789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911721"/>
            <a:ext cx="20747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INBOXES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128117"/>
            <a:ext cx="4160111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Beyond Email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365745" y="1619101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554385" y="1778198"/>
            <a:ext cx="290513" cy="290513"/>
          </a:xfrm>
          <a:prstGeom prst="roundRect">
            <a:avLst>
              <a:gd name="adj" fmla="val 2518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39" y="1841153"/>
            <a:ext cx="164529" cy="1645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3084" y="1800969"/>
            <a:ext cx="181343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Smishing (SMS)</a:t>
            </a:r>
            <a:endParaRPr lang="en-US" sz="1370" dirty="0"/>
          </a:p>
        </p:txBody>
      </p:sp>
      <p:sp>
        <p:nvSpPr>
          <p:cNvPr id="15" name="Text 11"/>
          <p:cNvSpPr/>
          <p:nvPr/>
        </p:nvSpPr>
        <p:spPr>
          <a:xfrm>
            <a:off x="983084" y="2097881"/>
            <a:ext cx="3943514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delivery, bank, or prize texts containing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links.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4663418" y="1619101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4852020" y="1778198"/>
            <a:ext cx="290513" cy="290513"/>
          </a:xfrm>
          <a:prstGeom prst="roundRect">
            <a:avLst>
              <a:gd name="adj" fmla="val 2518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74" y="1841153"/>
            <a:ext cx="164529" cy="1645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80720" y="1800969"/>
            <a:ext cx="174387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Vishing (Voice)</a:t>
            </a:r>
            <a:endParaRPr lang="en-US" sz="1370" dirty="0"/>
          </a:p>
        </p:txBody>
      </p:sp>
      <p:sp>
        <p:nvSpPr>
          <p:cNvPr id="20" name="Text 15"/>
          <p:cNvSpPr/>
          <p:nvPr/>
        </p:nvSpPr>
        <p:spPr>
          <a:xfrm>
            <a:off x="5280720" y="2097881"/>
            <a:ext cx="3824042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Callers posing as support or fraud teams to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information.</a:t>
            </a:r>
            <a:endParaRPr lang="en-US" sz="1120" dirty="0"/>
          </a:p>
        </p:txBody>
      </p:sp>
      <p:sp>
        <p:nvSpPr>
          <p:cNvPr id="21" name="Shape 16"/>
          <p:cNvSpPr/>
          <p:nvPr/>
        </p:nvSpPr>
        <p:spPr>
          <a:xfrm>
            <a:off x="365745" y="2846859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554385" y="3005956"/>
            <a:ext cx="290513" cy="290513"/>
          </a:xfrm>
          <a:prstGeom prst="roundRect">
            <a:avLst>
              <a:gd name="adj" fmla="val 2518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39" y="3068910"/>
            <a:ext cx="164529" cy="16452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3084" y="3028727"/>
            <a:ext cx="20817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QR-Code Phishing</a:t>
            </a:r>
            <a:endParaRPr lang="en-US" sz="1370" dirty="0"/>
          </a:p>
        </p:txBody>
      </p:sp>
      <p:sp>
        <p:nvSpPr>
          <p:cNvPr id="25" name="Text 19"/>
          <p:cNvSpPr/>
          <p:nvPr/>
        </p:nvSpPr>
        <p:spPr>
          <a:xfrm>
            <a:off x="983084" y="3325639"/>
            <a:ext cx="3901529" cy="3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codes hidden in posters, flyers, or</a:t>
            </a:r>
            <a:endParaRPr lang="en-US" sz="1120" dirty="0"/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emails.</a:t>
            </a:r>
            <a:endParaRPr lang="en-US" sz="1120" dirty="0"/>
          </a:p>
        </p:txBody>
      </p:sp>
      <p:sp>
        <p:nvSpPr>
          <p:cNvPr id="26" name="Shape 20"/>
          <p:cNvSpPr/>
          <p:nvPr/>
        </p:nvSpPr>
        <p:spPr>
          <a:xfrm>
            <a:off x="4663418" y="2846859"/>
            <a:ext cx="4114800" cy="1042988"/>
          </a:xfrm>
          <a:prstGeom prst="roundRect">
            <a:avLst>
              <a:gd name="adj" fmla="val 8767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1"/>
          <p:cNvSpPr/>
          <p:nvPr/>
        </p:nvSpPr>
        <p:spPr>
          <a:xfrm>
            <a:off x="4852020" y="3005956"/>
            <a:ext cx="290513" cy="290513"/>
          </a:xfrm>
          <a:prstGeom prst="roundRect">
            <a:avLst>
              <a:gd name="adj" fmla="val 2518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74" y="3068910"/>
            <a:ext cx="164529" cy="16452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0720" y="3028727"/>
            <a:ext cx="146275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37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</a:t>
            </a:r>
            <a:endParaRPr lang="en-US" sz="1370" dirty="0"/>
          </a:p>
        </p:txBody>
      </p:sp>
      <p:sp>
        <p:nvSpPr>
          <p:cNvPr id="30" name="Text 23"/>
          <p:cNvSpPr/>
          <p:nvPr/>
        </p:nvSpPr>
        <p:spPr>
          <a:xfrm>
            <a:off x="5280720" y="3325639"/>
            <a:ext cx="41476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 profiles, impersonation, and too-good-to-be-true</a:t>
            </a:r>
            <a:endParaRPr lang="en-US" sz="1120" dirty="0"/>
          </a:p>
        </p:txBody>
      </p:sp>
      <p:sp>
        <p:nvSpPr>
          <p:cNvPr id="31" name="Text 24"/>
          <p:cNvSpPr/>
          <p:nvPr/>
        </p:nvSpPr>
        <p:spPr>
          <a:xfrm>
            <a:off x="5821114" y="3538240"/>
            <a:ext cx="11633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prize scams.</a:t>
            </a:r>
            <a:endParaRPr lang="en-US" sz="1120" dirty="0"/>
          </a:p>
        </p:txBody>
      </p:sp>
      <p:sp>
        <p:nvSpPr>
          <p:cNvPr id="32" name="Text 25"/>
          <p:cNvSpPr/>
          <p:nvPr/>
        </p:nvSpPr>
        <p:spPr>
          <a:xfrm>
            <a:off x="2401264" y="4064124"/>
            <a:ext cx="43413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caution applies on every channel.</a:t>
            </a:r>
            <a:endParaRPr lang="en-US" sz="1220" dirty="0"/>
          </a:p>
        </p:txBody>
      </p:sp>
      <p:sp>
        <p:nvSpPr>
          <p:cNvPr id="33" name="Shape 26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27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5" name="Text 28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038231" y="212750"/>
            <a:ext cx="15588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6196" y="212750"/>
            <a:ext cx="57982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858342"/>
            <a:ext cx="16372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DEFENSE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2084263"/>
            <a:ext cx="398753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 to Stay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65745" y="2406104"/>
            <a:ext cx="87903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365745" y="2873648"/>
            <a:ext cx="4392283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 consistent habits stop the vast majority</a:t>
            </a:r>
            <a:endParaRPr lang="en-US" sz="1220" dirty="0"/>
          </a:p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phishing attacks before they succeed.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4030452" y="1206438"/>
            <a:ext cx="4748213" cy="433388"/>
          </a:xfrm>
          <a:prstGeom prst="roundRect">
            <a:avLst>
              <a:gd name="adj" fmla="val 189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4200413" y="1313594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1359098"/>
            <a:ext cx="127992" cy="1279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56820" y="1323826"/>
            <a:ext cx="42948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and verify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clicking or replying.</a:t>
            </a:r>
            <a:endParaRPr lang="en-US" sz="1220" dirty="0"/>
          </a:p>
        </p:txBody>
      </p:sp>
      <p:sp>
        <p:nvSpPr>
          <p:cNvPr id="17" name="Shape 13"/>
          <p:cNvSpPr/>
          <p:nvPr/>
        </p:nvSpPr>
        <p:spPr>
          <a:xfrm>
            <a:off x="4030452" y="1733662"/>
            <a:ext cx="4748213" cy="433388"/>
          </a:xfrm>
          <a:prstGeom prst="roundRect">
            <a:avLst>
              <a:gd name="adj" fmla="val 189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4200413" y="1840818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1886322"/>
            <a:ext cx="127992" cy="1279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56820" y="1851050"/>
            <a:ext cx="52740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requests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a separate, trusted channel.</a:t>
            </a:r>
            <a:endParaRPr lang="en-US" sz="1220" dirty="0"/>
          </a:p>
        </p:txBody>
      </p:sp>
      <p:sp>
        <p:nvSpPr>
          <p:cNvPr id="21" name="Shape 16"/>
          <p:cNvSpPr/>
          <p:nvPr/>
        </p:nvSpPr>
        <p:spPr>
          <a:xfrm>
            <a:off x="4030452" y="2260885"/>
            <a:ext cx="4748213" cy="433388"/>
          </a:xfrm>
          <a:prstGeom prst="roundRect">
            <a:avLst>
              <a:gd name="adj" fmla="val 189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4200413" y="2368042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2413546"/>
            <a:ext cx="127992" cy="1279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56820" y="2378273"/>
            <a:ext cx="50750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share passwords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codes by email or phone.</a:t>
            </a:r>
            <a:endParaRPr lang="en-US" sz="1220" dirty="0"/>
          </a:p>
        </p:txBody>
      </p:sp>
      <p:sp>
        <p:nvSpPr>
          <p:cNvPr id="25" name="Shape 19"/>
          <p:cNvSpPr/>
          <p:nvPr/>
        </p:nvSpPr>
        <p:spPr>
          <a:xfrm>
            <a:off x="4030452" y="2786435"/>
            <a:ext cx="4748213" cy="652463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0"/>
          <p:cNvSpPr/>
          <p:nvPr/>
        </p:nvSpPr>
        <p:spPr>
          <a:xfrm>
            <a:off x="4200413" y="3003091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3048595"/>
            <a:ext cx="127992" cy="1279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6820" y="2904604"/>
            <a:ext cx="4978904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13"/>
              </a:lnSpc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multi-factor authentication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everywhere you</a:t>
            </a:r>
            <a:endParaRPr lang="en-US" sz="1220" dirty="0"/>
          </a:p>
          <a:p>
            <a:pPr marL="0" indent="0" algn="l">
              <a:lnSpc>
                <a:spcPts val="1713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can.</a:t>
            </a:r>
            <a:endParaRPr lang="en-US" sz="1220" dirty="0"/>
          </a:p>
        </p:txBody>
      </p:sp>
      <p:sp>
        <p:nvSpPr>
          <p:cNvPr id="29" name="Shape 22"/>
          <p:cNvSpPr/>
          <p:nvPr/>
        </p:nvSpPr>
        <p:spPr>
          <a:xfrm>
            <a:off x="4030452" y="3531059"/>
            <a:ext cx="4748213" cy="433388"/>
          </a:xfrm>
          <a:prstGeom prst="roundRect">
            <a:avLst>
              <a:gd name="adj" fmla="val 189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3"/>
          <p:cNvSpPr/>
          <p:nvPr/>
        </p:nvSpPr>
        <p:spPr>
          <a:xfrm>
            <a:off x="4200413" y="3638215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3683719"/>
            <a:ext cx="127992" cy="1279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556820" y="3648447"/>
            <a:ext cx="37482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software and browsers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updated.</a:t>
            </a:r>
            <a:endParaRPr lang="en-US" sz="1220" dirty="0"/>
          </a:p>
        </p:txBody>
      </p:sp>
      <p:sp>
        <p:nvSpPr>
          <p:cNvPr id="33" name="Shape 25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26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038231" y="212750"/>
            <a:ext cx="15588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6196" y="212750"/>
            <a:ext cx="57982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858342"/>
            <a:ext cx="16372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DEFENSE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2084263"/>
            <a:ext cx="398753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Practices to Stay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65745" y="2406104"/>
            <a:ext cx="87903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365745" y="2873648"/>
            <a:ext cx="4392283" cy="4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 consistent habits stop the vast majority</a:t>
            </a:r>
            <a:endParaRPr lang="en-US" sz="1220" dirty="0"/>
          </a:p>
          <a:p>
            <a:pPr marL="0" indent="0" algn="l">
              <a:lnSpc>
                <a:spcPts val="1897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phishing attacks before they succeed.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4030452" y="1206438"/>
            <a:ext cx="4748213" cy="433388"/>
          </a:xfrm>
          <a:prstGeom prst="roundRect">
            <a:avLst>
              <a:gd name="adj" fmla="val 189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4200413" y="1313594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1359098"/>
            <a:ext cx="127992" cy="1279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56820" y="1323826"/>
            <a:ext cx="42948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and verify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clicking or replying.</a:t>
            </a:r>
            <a:endParaRPr lang="en-US" sz="1220" dirty="0"/>
          </a:p>
        </p:txBody>
      </p:sp>
      <p:sp>
        <p:nvSpPr>
          <p:cNvPr id="17" name="Shape 13"/>
          <p:cNvSpPr/>
          <p:nvPr/>
        </p:nvSpPr>
        <p:spPr>
          <a:xfrm>
            <a:off x="4030452" y="1733662"/>
            <a:ext cx="4748213" cy="433388"/>
          </a:xfrm>
          <a:prstGeom prst="roundRect">
            <a:avLst>
              <a:gd name="adj" fmla="val 189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4"/>
          <p:cNvSpPr/>
          <p:nvPr/>
        </p:nvSpPr>
        <p:spPr>
          <a:xfrm>
            <a:off x="4200413" y="1840818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1886322"/>
            <a:ext cx="127992" cy="1279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56820" y="1851050"/>
            <a:ext cx="52740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requests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a separate, trusted channel.</a:t>
            </a:r>
            <a:endParaRPr lang="en-US" sz="1220" dirty="0"/>
          </a:p>
        </p:txBody>
      </p:sp>
      <p:sp>
        <p:nvSpPr>
          <p:cNvPr id="21" name="Shape 16"/>
          <p:cNvSpPr/>
          <p:nvPr/>
        </p:nvSpPr>
        <p:spPr>
          <a:xfrm>
            <a:off x="4030452" y="2260885"/>
            <a:ext cx="4748213" cy="433388"/>
          </a:xfrm>
          <a:prstGeom prst="roundRect">
            <a:avLst>
              <a:gd name="adj" fmla="val 189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4200413" y="2368042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2413546"/>
            <a:ext cx="127992" cy="1279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56820" y="2378273"/>
            <a:ext cx="507506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share passwords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codes by email or phone.</a:t>
            </a:r>
            <a:endParaRPr lang="en-US" sz="1220" dirty="0"/>
          </a:p>
        </p:txBody>
      </p:sp>
      <p:sp>
        <p:nvSpPr>
          <p:cNvPr id="25" name="Shape 19"/>
          <p:cNvSpPr/>
          <p:nvPr/>
        </p:nvSpPr>
        <p:spPr>
          <a:xfrm>
            <a:off x="4030452" y="2786435"/>
            <a:ext cx="4748213" cy="652463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0"/>
          <p:cNvSpPr/>
          <p:nvPr/>
        </p:nvSpPr>
        <p:spPr>
          <a:xfrm>
            <a:off x="4200413" y="3003091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3048595"/>
            <a:ext cx="127992" cy="1279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6820" y="2904604"/>
            <a:ext cx="4978904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13"/>
              </a:lnSpc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multi-factor authentication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everywhere you</a:t>
            </a:r>
            <a:endParaRPr lang="en-US" sz="1220" dirty="0"/>
          </a:p>
          <a:p>
            <a:pPr marL="0" indent="0" algn="l">
              <a:lnSpc>
                <a:spcPts val="1713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can.</a:t>
            </a:r>
            <a:endParaRPr lang="en-US" sz="1220" dirty="0"/>
          </a:p>
        </p:txBody>
      </p:sp>
      <p:sp>
        <p:nvSpPr>
          <p:cNvPr id="29" name="Shape 22"/>
          <p:cNvSpPr/>
          <p:nvPr/>
        </p:nvSpPr>
        <p:spPr>
          <a:xfrm>
            <a:off x="4030452" y="3531059"/>
            <a:ext cx="4748213" cy="433388"/>
          </a:xfrm>
          <a:prstGeom prst="roundRect">
            <a:avLst>
              <a:gd name="adj" fmla="val 1898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09728" dist="36576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3"/>
          <p:cNvSpPr/>
          <p:nvPr/>
        </p:nvSpPr>
        <p:spPr>
          <a:xfrm>
            <a:off x="4200413" y="3638215"/>
            <a:ext cx="219075" cy="219075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918" y="3683719"/>
            <a:ext cx="127992" cy="1279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556820" y="3648447"/>
            <a:ext cx="37482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software and browsers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updated.</a:t>
            </a:r>
            <a:endParaRPr lang="en-US" sz="1220" dirty="0"/>
          </a:p>
        </p:txBody>
      </p:sp>
      <p:sp>
        <p:nvSpPr>
          <p:cNvPr id="33" name="Shape 25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26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770415" y="212750"/>
            <a:ext cx="190175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RESPONSE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2177" y="212750"/>
            <a:ext cx="5850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206698"/>
            <a:ext cx="14667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QUICKLY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423095"/>
            <a:ext cx="403773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Suspect a Phish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365745" y="1939565"/>
            <a:ext cx="2000250" cy="138588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506685" y="2096914"/>
            <a:ext cx="276225" cy="2762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14511" y="2151236"/>
            <a:ext cx="13589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507653" y="2494062"/>
            <a:ext cx="155098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interact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507653" y="2770361"/>
            <a:ext cx="2148438" cy="3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click links or open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2503140" y="1939565"/>
            <a:ext cx="2000250" cy="138588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2644080" y="2096914"/>
            <a:ext cx="276225" cy="2762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2738438" y="2151236"/>
            <a:ext cx="1709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2645048" y="2494062"/>
            <a:ext cx="145530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forward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2645048" y="2770361"/>
            <a:ext cx="2085365" cy="3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reply or pass it to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640535" y="1939565"/>
            <a:ext cx="2000250" cy="138588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4781476" y="2096914"/>
            <a:ext cx="276225" cy="2762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4874493" y="2151236"/>
            <a:ext cx="1743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782443" y="2494062"/>
            <a:ext cx="92015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it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4782443" y="2770361"/>
            <a:ext cx="2228828" cy="3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 your IT or security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777968" y="1939565"/>
            <a:ext cx="2000250" cy="138588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4"/>
          <p:cNvSpPr/>
          <p:nvPr/>
        </p:nvSpPr>
        <p:spPr>
          <a:xfrm>
            <a:off x="6918871" y="2096914"/>
            <a:ext cx="276225" cy="2762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009730" y="2151236"/>
            <a:ext cx="17991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6919838" y="2494062"/>
            <a:ext cx="70926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1260" dirty="0"/>
          </a:p>
        </p:txBody>
      </p:sp>
      <p:sp>
        <p:nvSpPr>
          <p:cNvPr id="30" name="Text 27"/>
          <p:cNvSpPr/>
          <p:nvPr/>
        </p:nvSpPr>
        <p:spPr>
          <a:xfrm>
            <a:off x="6919838" y="2770361"/>
            <a:ext cx="1923038" cy="3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the message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reporting.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366713" y="3506614"/>
            <a:ext cx="8410575" cy="476250"/>
          </a:xfrm>
          <a:prstGeom prst="roundRect">
            <a:avLst>
              <a:gd name="adj" fmla="val 19200"/>
            </a:avLst>
          </a:prstGeom>
          <a:solidFill>
            <a:srgbClr val="DC2626"/>
          </a:solidFill>
          <a:ln/>
          <a:effectLst>
            <a:outerShdw blurRad="137160" dist="45720" dir="5400000" algn="bl" rotWithShape="0">
              <a:srgbClr val="DC2626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45" y="3644131"/>
            <a:ext cx="201141" cy="201141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32631" y="3643833"/>
            <a:ext cx="984009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clicked or entered a password? Report it immediately — fast action limits the damage.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1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6" name="Text 32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770415" y="212750"/>
            <a:ext cx="190175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RESPONSE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2177" y="212750"/>
            <a:ext cx="5850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206698"/>
            <a:ext cx="14667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QUICKLY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423095"/>
            <a:ext cx="4037737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Suspect a Phish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365745" y="1939565"/>
            <a:ext cx="2000250" cy="138588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506685" y="2096914"/>
            <a:ext cx="276225" cy="2762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614511" y="2151236"/>
            <a:ext cx="13589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507653" y="2494062"/>
            <a:ext cx="155098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interact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507653" y="2770361"/>
            <a:ext cx="2148438" cy="3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click links or open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2503140" y="1939565"/>
            <a:ext cx="2000250" cy="138588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2644080" y="2096914"/>
            <a:ext cx="276225" cy="2762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2738438" y="2151236"/>
            <a:ext cx="17091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2645048" y="2494062"/>
            <a:ext cx="145530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forward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2645048" y="2770361"/>
            <a:ext cx="2085365" cy="3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reply or pass it to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640535" y="1939565"/>
            <a:ext cx="2000250" cy="138588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4781476" y="2096914"/>
            <a:ext cx="276225" cy="2762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4874493" y="2151236"/>
            <a:ext cx="1743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782443" y="2494062"/>
            <a:ext cx="92015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it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4782443" y="2770361"/>
            <a:ext cx="2228828" cy="3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 your IT or security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777968" y="1939565"/>
            <a:ext cx="2000250" cy="1385888"/>
          </a:xfrm>
          <a:prstGeom prst="roundRect">
            <a:avLst>
              <a:gd name="adj" fmla="val 6598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4"/>
          <p:cNvSpPr/>
          <p:nvPr/>
        </p:nvSpPr>
        <p:spPr>
          <a:xfrm>
            <a:off x="6918871" y="2096914"/>
            <a:ext cx="276225" cy="276225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009730" y="2151236"/>
            <a:ext cx="17991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6919838" y="2494062"/>
            <a:ext cx="70926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</a:t>
            </a:r>
            <a:endParaRPr lang="en-US" sz="1260" dirty="0"/>
          </a:p>
        </p:txBody>
      </p:sp>
      <p:sp>
        <p:nvSpPr>
          <p:cNvPr id="30" name="Text 27"/>
          <p:cNvSpPr/>
          <p:nvPr/>
        </p:nvSpPr>
        <p:spPr>
          <a:xfrm>
            <a:off x="6919838" y="2770361"/>
            <a:ext cx="1923038" cy="376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the message</a:t>
            </a:r>
            <a:endParaRPr lang="en-US" sz="1120" dirty="0"/>
          </a:p>
          <a:p>
            <a:pPr marL="0" indent="0" algn="l">
              <a:lnSpc>
                <a:spcPts val="1618"/>
              </a:lnSpc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reporting.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366713" y="3506614"/>
            <a:ext cx="8410575" cy="476250"/>
          </a:xfrm>
          <a:prstGeom prst="roundRect">
            <a:avLst>
              <a:gd name="adj" fmla="val 19200"/>
            </a:avLst>
          </a:prstGeom>
          <a:solidFill>
            <a:srgbClr val="DC2626"/>
          </a:solidFill>
          <a:ln/>
          <a:effectLst>
            <a:outerShdw blurRad="137160" dist="45720" dir="5400000" algn="bl" rotWithShape="0">
              <a:srgbClr val="DC2626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45" y="3644131"/>
            <a:ext cx="201141" cy="201141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32631" y="3643833"/>
            <a:ext cx="984009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clicked or entered a password? Report it immediately — fast action limits the damage.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1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36" name="Text 32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795715" y="212750"/>
            <a:ext cx="187834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CHECK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9470" y="212750"/>
            <a:ext cx="57557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66787" y="1463055"/>
            <a:ext cx="2938463" cy="300038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93737" y="1529283"/>
            <a:ext cx="3547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080" b="1" kern="0" spc="86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02 — WHAT WOULD YOU DO?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65745" y="1876499"/>
            <a:ext cx="2372581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2020" b="1" kern="0" spc="-4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phone call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366713" y="2326295"/>
            <a:ext cx="4067175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71475" y="2330797"/>
            <a:ext cx="4057650" cy="376238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535037" y="2432745"/>
            <a:ext cx="11734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Incoming call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35037" y="2838524"/>
            <a:ext cx="4821123" cy="4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“Hi, this is IT. We're fixing an account issue and</a:t>
            </a:r>
            <a:endParaRPr lang="en-US" sz="126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your password to complete the repair.”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535037" y="3395588"/>
            <a:ext cx="26656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correct response?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710113" y="1694855"/>
            <a:ext cx="4067175" cy="1781175"/>
          </a:xfrm>
          <a:prstGeom prst="roundRect">
            <a:avLst>
              <a:gd name="adj" fmla="val 6160"/>
            </a:avLst>
          </a:prstGeom>
          <a:solidFill>
            <a:srgbClr val="0D9488"/>
          </a:solidFill>
          <a:ln/>
          <a:effectLst>
            <a:outerShdw blurRad="182880" dist="73152" dir="5400000" algn="bl" rotWithShape="0">
              <a:srgbClr val="0D9488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4936778" y="1900014"/>
            <a:ext cx="276225" cy="276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588" y="1955825"/>
            <a:ext cx="164529" cy="16452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416" y="1954337"/>
            <a:ext cx="16085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Refuse and verify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4937745" y="2301925"/>
            <a:ext cx="4744990" cy="9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share anything. </a:t>
            </a: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Hang up and call IT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</a:t>
            </a: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 known, official number. Legitimate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teams </a:t>
            </a: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ask for your password</a:t>
            </a: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they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need it to fix your account.</a:t>
            </a:r>
            <a:endParaRPr lang="en-US" sz="1260" dirty="0"/>
          </a:p>
        </p:txBody>
      </p:sp>
      <p:sp>
        <p:nvSpPr>
          <p:cNvPr id="22" name="Shape 18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475" y="2330797"/>
            <a:ext cx="4057650" cy="376238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795715" y="212750"/>
            <a:ext cx="187834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CHECK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9470" y="212750"/>
            <a:ext cx="57557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66787" y="1463055"/>
            <a:ext cx="2938463" cy="300038"/>
          </a:xfrm>
          <a:prstGeom prst="roundRect">
            <a:avLst>
              <a:gd name="adj" fmla="val 50000"/>
            </a:avLst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493737" y="1529283"/>
            <a:ext cx="3547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080" b="1" kern="0" spc="86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02 — WHAT WOULD YOU DO?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65745" y="1876499"/>
            <a:ext cx="2372581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2020" b="1" kern="0" spc="-4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phone call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366713" y="2326295"/>
            <a:ext cx="4067175" cy="1381125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371475" y="2330797"/>
            <a:ext cx="4057650" cy="376238"/>
          </a:xfrm>
          <a:prstGeom prst="rect">
            <a:avLst/>
          </a:prstGeom>
          <a:solidFill>
            <a:srgbClr val="1E3A5F">
              <a:alpha val="4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535037" y="2432745"/>
            <a:ext cx="117341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Incoming call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535037" y="2838524"/>
            <a:ext cx="4821123" cy="4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“Hi, this is IT. We're fixing an account issue and</a:t>
            </a:r>
            <a:endParaRPr lang="en-US" sz="126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26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your password to complete the repair.”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535037" y="3395588"/>
            <a:ext cx="26656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1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correct response?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710113" y="1694855"/>
            <a:ext cx="4067175" cy="1781175"/>
          </a:xfrm>
          <a:prstGeom prst="roundRect">
            <a:avLst>
              <a:gd name="adj" fmla="val 6160"/>
            </a:avLst>
          </a:prstGeom>
          <a:solidFill>
            <a:srgbClr val="0D9488"/>
          </a:solidFill>
          <a:ln/>
          <a:effectLst>
            <a:outerShdw blurRad="182880" dist="73152" dir="5400000" algn="bl" rotWithShape="0">
              <a:srgbClr val="0D9488">
                <a:alpha val="2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4936778" y="1900014"/>
            <a:ext cx="276225" cy="276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588" y="1955825"/>
            <a:ext cx="164529" cy="16452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416" y="1954337"/>
            <a:ext cx="16085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Refuse and verify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4937745" y="2301925"/>
            <a:ext cx="4744990" cy="9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share anything. </a:t>
            </a: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Hang up and call IT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</a:t>
            </a: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 known, official number. Legitimate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teams </a:t>
            </a:r>
            <a:r>
              <a:rPr lang="en-US" sz="12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ask for your password</a:t>
            </a: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they</a:t>
            </a:r>
            <a:endParaRPr lang="en-US" sz="1260" dirty="0"/>
          </a:p>
          <a:p>
            <a:pPr marL="0" indent="0" algn="l">
              <a:lnSpc>
                <a:spcPts val="1952"/>
              </a:lnSpc>
              <a:buNone/>
            </a:pPr>
            <a:r>
              <a:rPr lang="en-US" sz="1260" dirty="0">
                <a:solidFill>
                  <a:srgbClr val="E7F4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need it to fix your account.</a:t>
            </a:r>
            <a:endParaRPr lang="en-US" sz="1260" dirty="0"/>
          </a:p>
        </p:txBody>
      </p:sp>
      <p:sp>
        <p:nvSpPr>
          <p:cNvPr id="22" name="Shape 18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475" y="2330797"/>
            <a:ext cx="4057650" cy="376238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474446" y="212750"/>
            <a:ext cx="9912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5824" y="212750"/>
            <a:ext cx="58031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005036"/>
            <a:ext cx="17610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 THIS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221432"/>
            <a:ext cx="3063679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450" dirty="0"/>
          </a:p>
        </p:txBody>
      </p:sp>
      <p:sp>
        <p:nvSpPr>
          <p:cNvPr id="11" name="Shape 8"/>
          <p:cNvSpPr/>
          <p:nvPr/>
        </p:nvSpPr>
        <p:spPr>
          <a:xfrm>
            <a:off x="365745" y="1757437"/>
            <a:ext cx="4114800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553343" y="1896368"/>
            <a:ext cx="3265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897731" y="1929705"/>
            <a:ext cx="4022065" cy="4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targets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trust and</a:t>
            </a:r>
            <a:endParaRPr lang="en-US" sz="1220" dirty="0"/>
          </a:p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663418" y="1757437"/>
            <a:ext cx="4114800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4850978" y="1896368"/>
            <a:ext cx="3731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5231234" y="1929705"/>
            <a:ext cx="4099262" cy="4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sender, links, and tone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you</a:t>
            </a:r>
            <a:endParaRPr lang="en-US" sz="1220" dirty="0"/>
          </a:p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365745" y="2709118"/>
            <a:ext cx="4114800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53343" y="2848049"/>
            <a:ext cx="3777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937096" y="2881387"/>
            <a:ext cx="3690059" cy="4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unusual requests on a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</a:t>
            </a:r>
            <a:endParaRPr lang="en-US" sz="1220" dirty="0"/>
          </a:p>
          <a:p>
            <a:pPr marL="0" indent="0" algn="l">
              <a:lnSpc>
                <a:spcPts val="1775"/>
              </a:lnSpc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4663418" y="2709118"/>
            <a:ext cx="4114800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4850978" y="2848049"/>
            <a:ext cx="38528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5240536" y="2881387"/>
            <a:ext cx="40044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anything suspicious.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366713" y="3656595"/>
            <a:ext cx="8410575" cy="528638"/>
          </a:xfrm>
          <a:prstGeom prst="roundRect">
            <a:avLst>
              <a:gd name="adj" fmla="val 17297"/>
            </a:avLst>
          </a:prstGeom>
          <a:solidFill>
            <a:srgbClr val="1E3A5F"/>
          </a:solidFill>
          <a:ln/>
          <a:effectLst>
            <a:outerShdw blurRad="137160" dist="45720" dir="5400000" algn="bl" rotWithShape="0">
              <a:srgbClr val="1E3A5F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2942901" y="3830241"/>
            <a:ext cx="325812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is a shared responsibility.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3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474446" y="212750"/>
            <a:ext cx="9912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75824" y="212750"/>
            <a:ext cx="58031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17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365745" y="1005036"/>
            <a:ext cx="17610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120" b="1" kern="0" spc="89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 THIS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365745" y="1221432"/>
            <a:ext cx="3063679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49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450" dirty="0"/>
          </a:p>
        </p:txBody>
      </p:sp>
      <p:sp>
        <p:nvSpPr>
          <p:cNvPr id="11" name="Shape 8"/>
          <p:cNvSpPr/>
          <p:nvPr/>
        </p:nvSpPr>
        <p:spPr>
          <a:xfrm>
            <a:off x="365745" y="1757437"/>
            <a:ext cx="4114800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553343" y="1896368"/>
            <a:ext cx="32656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897731" y="1929705"/>
            <a:ext cx="4022065" cy="4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targets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trust and</a:t>
            </a:r>
            <a:endParaRPr lang="en-US" sz="1220" dirty="0"/>
          </a:p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663418" y="1757437"/>
            <a:ext cx="4114800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4850978" y="1896368"/>
            <a:ext cx="3731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5231234" y="1929705"/>
            <a:ext cx="4099262" cy="4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sender, links, and tone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you</a:t>
            </a:r>
            <a:endParaRPr lang="en-US" sz="1220" dirty="0"/>
          </a:p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365745" y="2709118"/>
            <a:ext cx="4114800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53343" y="2848049"/>
            <a:ext cx="37774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937096" y="2881387"/>
            <a:ext cx="3690059" cy="4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5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unusual requests on a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</a:t>
            </a:r>
            <a:endParaRPr lang="en-US" sz="1220" dirty="0"/>
          </a:p>
          <a:p>
            <a:pPr marL="0" indent="0" algn="l">
              <a:lnSpc>
                <a:spcPts val="1775"/>
              </a:lnSpc>
              <a:buNone/>
            </a:pP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4663418" y="2709118"/>
            <a:ext cx="4114800" cy="766763"/>
          </a:xfrm>
          <a:prstGeom prst="roundRect">
            <a:avLst>
              <a:gd name="adj" fmla="val 11925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4850978" y="2848049"/>
            <a:ext cx="38528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5240536" y="2881387"/>
            <a:ext cx="40044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22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r>
              <a:rPr lang="en-US" sz="122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anything suspicious.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366713" y="3656595"/>
            <a:ext cx="8410575" cy="528638"/>
          </a:xfrm>
          <a:prstGeom prst="roundRect">
            <a:avLst>
              <a:gd name="adj" fmla="val 17297"/>
            </a:avLst>
          </a:prstGeom>
          <a:solidFill>
            <a:srgbClr val="1E3A5F"/>
          </a:solidFill>
          <a:ln/>
          <a:effectLst>
            <a:outerShdw blurRad="137160" dist="45720" dir="5400000" algn="bl" rotWithShape="0">
              <a:srgbClr val="1E3A5F">
                <a:alpha val="1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2942901" y="3830241"/>
            <a:ext cx="325812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is a shared responsibility.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3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589416" y="212750"/>
            <a:ext cx="8522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83860" y="212750"/>
            <a:ext cx="5698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98156" y="762074"/>
            <a:ext cx="547687" cy="547687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4388607" y="852525"/>
            <a:ext cx="366712" cy="36671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392" y="935310"/>
            <a:ext cx="201141" cy="2011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66733" y="1477789"/>
            <a:ext cx="6410533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Before You Click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1818404" y="2153096"/>
            <a:ext cx="5507191" cy="748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21"/>
              </a:lnSpc>
              <a:buNone/>
            </a:pPr>
            <a:r>
              <a:rPr lang="en-US" sz="13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suspicious messages to your security team.</a:t>
            </a:r>
            <a:endParaRPr lang="en-US" sz="1370" dirty="0"/>
          </a:p>
          <a:p>
            <a:pPr marL="0" indent="0" algn="ctr">
              <a:lnSpc>
                <a:spcPts val="2121"/>
              </a:lnSpc>
              <a:buNone/>
            </a:pPr>
            <a:r>
              <a:rPr lang="en-US" sz="13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in doubt, slow down and verify — vigilance</a:t>
            </a:r>
            <a:endParaRPr lang="en-US" sz="1370" dirty="0"/>
          </a:p>
          <a:p>
            <a:pPr marL="0" indent="0" algn="ctr">
              <a:lnSpc>
                <a:spcPts val="2121"/>
              </a:lnSpc>
              <a:buNone/>
            </a:pPr>
            <a:r>
              <a:rPr lang="en-US" sz="13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everyone safe.</a:t>
            </a:r>
            <a:endParaRPr lang="en-US" sz="1370" dirty="0"/>
          </a:p>
        </p:txBody>
      </p:sp>
      <p:sp>
        <p:nvSpPr>
          <p:cNvPr id="14" name="Shape 10"/>
          <p:cNvSpPr/>
          <p:nvPr/>
        </p:nvSpPr>
        <p:spPr>
          <a:xfrm>
            <a:off x="1807369" y="3190280"/>
            <a:ext cx="5529263" cy="8001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1"/>
          <p:cNvSpPr/>
          <p:nvPr/>
        </p:nvSpPr>
        <p:spPr>
          <a:xfrm>
            <a:off x="2177132" y="3367683"/>
            <a:ext cx="11417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080" b="1" kern="0" spc="5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TO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2177132" y="3608933"/>
            <a:ext cx="309666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security@yourcompany.com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89512" y="3347442"/>
            <a:ext cx="4763" cy="4857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4"/>
          <p:cNvSpPr/>
          <p:nvPr/>
        </p:nvSpPr>
        <p:spPr>
          <a:xfrm>
            <a:off x="5068565" y="3367683"/>
            <a:ext cx="113142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080" b="1" kern="0" spc="5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5068565" y="3608933"/>
            <a:ext cx="252494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in doubt, report it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869670" y="4215780"/>
            <a:ext cx="34045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620"/>
              </a:spcBef>
              <a:buNone/>
            </a:pPr>
            <a:r>
              <a:rPr lang="en-US" sz="11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completing this training.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3" name="Text 19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66713" y="178929"/>
            <a:ext cx="8410575" cy="342900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65931" y="187040"/>
            <a:ext cx="219075" cy="219075"/>
          </a:xfrm>
          <a:prstGeom prst="roundRect">
            <a:avLst>
              <a:gd name="adj" fmla="val 2087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35" y="232544"/>
            <a:ext cx="127992" cy="127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573" y="199058"/>
            <a:ext cx="1423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kern="0" spc="3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SecureAware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7589416" y="212750"/>
            <a:ext cx="8522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8383860" y="212750"/>
            <a:ext cx="5698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17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98156" y="762074"/>
            <a:ext cx="547687" cy="547687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4388607" y="852525"/>
            <a:ext cx="366712" cy="36671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392" y="935310"/>
            <a:ext cx="201141" cy="2011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66733" y="1477789"/>
            <a:ext cx="6410533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72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Before You Click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1818404" y="2153096"/>
            <a:ext cx="5507191" cy="748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21"/>
              </a:lnSpc>
              <a:buNone/>
            </a:pPr>
            <a:r>
              <a:rPr lang="en-US" sz="13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suspicious messages to your security team.</a:t>
            </a:r>
            <a:endParaRPr lang="en-US" sz="1370" dirty="0"/>
          </a:p>
          <a:p>
            <a:pPr marL="0" indent="0" algn="ctr">
              <a:lnSpc>
                <a:spcPts val="2121"/>
              </a:lnSpc>
              <a:buNone/>
            </a:pPr>
            <a:r>
              <a:rPr lang="en-US" sz="13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in doubt, slow down and verify — vigilance</a:t>
            </a:r>
            <a:endParaRPr lang="en-US" sz="1370" dirty="0"/>
          </a:p>
          <a:p>
            <a:pPr marL="0" indent="0" algn="ctr">
              <a:lnSpc>
                <a:spcPts val="2121"/>
              </a:lnSpc>
              <a:buNone/>
            </a:pPr>
            <a:r>
              <a:rPr lang="en-US" sz="137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everyone safe.</a:t>
            </a:r>
            <a:endParaRPr lang="en-US" sz="1370" dirty="0"/>
          </a:p>
        </p:txBody>
      </p:sp>
      <p:sp>
        <p:nvSpPr>
          <p:cNvPr id="14" name="Shape 10"/>
          <p:cNvSpPr/>
          <p:nvPr/>
        </p:nvSpPr>
        <p:spPr>
          <a:xfrm>
            <a:off x="1059604" y="3224399"/>
            <a:ext cx="5529263" cy="8001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  <a:effectLst>
            <a:outerShdw blurRad="137160" dist="45720" dir="5400000" algn="bl" rotWithShape="0">
              <a:srgbClr val="1E3A5F">
                <a:alpha val="6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1"/>
          <p:cNvSpPr/>
          <p:nvPr/>
        </p:nvSpPr>
        <p:spPr>
          <a:xfrm>
            <a:off x="2177132" y="3367683"/>
            <a:ext cx="11417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080" b="1" kern="0" spc="5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TO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2177132" y="3608933"/>
            <a:ext cx="309666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CodeAlpha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89512" y="3347442"/>
            <a:ext cx="4763" cy="4857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4"/>
          <p:cNvSpPr/>
          <p:nvPr/>
        </p:nvSpPr>
        <p:spPr>
          <a:xfrm>
            <a:off x="5068565" y="3367683"/>
            <a:ext cx="113142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1080" b="1" kern="0" spc="5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5068565" y="3608933"/>
            <a:ext cx="252494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in doubt, report it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869670" y="4215780"/>
            <a:ext cx="34045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620"/>
              </a:spcBef>
              <a:buNone/>
            </a:pPr>
            <a:r>
              <a:rPr lang="en-US" sz="112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completing this training.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366713" y="4649688"/>
            <a:ext cx="8410575" cy="314325"/>
          </a:xfrm>
          <a:prstGeom prst="rect">
            <a:avLst/>
          </a:prstGeom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365745" y="4776862"/>
            <a:ext cx="249243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Awareness Training</a:t>
            </a:r>
            <a:endParaRPr lang="en-US" sz="1080" dirty="0"/>
          </a:p>
        </p:txBody>
      </p:sp>
      <p:sp>
        <p:nvSpPr>
          <p:cNvPr id="23" name="Text 19"/>
          <p:cNvSpPr/>
          <p:nvPr/>
        </p:nvSpPr>
        <p:spPr>
          <a:xfrm>
            <a:off x="6352952" y="4776862"/>
            <a:ext cx="32100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Confidential•For Internal Use Only</a:t>
            </a:r>
            <a:endParaRPr lang="en-US" sz="108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713" y="178929"/>
            <a:ext cx="8410575" cy="342900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713" y="4649688"/>
            <a:ext cx="8410575" cy="314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3342</Words>
  <Application>Microsoft Office PowerPoint</Application>
  <PresentationFormat>On-screen Show (16:9)</PresentationFormat>
  <Paragraphs>816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Maryam Khan</cp:lastModifiedBy>
  <cp:revision>2</cp:revision>
  <dcterms:created xsi:type="dcterms:W3CDTF">2026-06-10T17:20:19Z</dcterms:created>
  <dcterms:modified xsi:type="dcterms:W3CDTF">2026-06-10T17:21:38Z</dcterms:modified>
</cp:coreProperties>
</file>